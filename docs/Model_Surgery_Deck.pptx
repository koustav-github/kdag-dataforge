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Fifteen seconds. Name, hook, move on. Do NOT explain BDH yet - the claim lands harder before the background. Have the sandbox already running on the second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claim, then immediately say what would prove it wrong. Judges explicitly score the one-sentence claim and whether the artifact could in principle reveal it is wrong. Volunteering the falsifier unprompted is worth more than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separates you from teams explaining a published result. You are not re-drawing Table 2. Say it plainly, and do not oversell - it is a toy-scale finding and you will say so on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you WILL be asked is 'how is this different from an ensemble?'. Answer it before it is asked. Key line: a Transformer has no free axis - hidden size is entangled with every weight matrix, so there is no concatenation operation to even attempt. Averaging is its closest analogue and it needs shared init.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demo HERE, not at the end - if it dies you still have seven slides to recover. If the wifi fails, use the recording, but SAY it is a recording. Note the deliberate choice to avoid a runtime library: a black box between us and the model would cost exactly the ownership points we are scored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theta-versus-M distinction explicitly. Plotting against theta alone would only show our data generator affects merging; plotting against measured M is what makes the claim about representations. A judge who knows experimental design will notice if you skip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real time here. Most hackathon projects have no controls at all, so this slide differentiates you at zero cost. If time is short in the live round, the random-ablation baseline is the one to mention - without it, the surgery result means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payload. Walk the curve left to right in words. Every point has an error bar; if a judge asks 'how do you know that dip is real?', the answer is seed variance, not 'it looked like that'.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moment the audience remembers: merge, watch it break, find the culprits, cut, watch it recover. Run it live. ALWAYS show the random baseline in the same breath - the result is the DIFFERENCE, not the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this table unprompted is the cheapest scoring in the rubric. The PS explicitly grades whether teams distinguish real behaviour from precomputation and animation. Most teams wait to be asked - put it on a slide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 REAL limitation, not a fake-humble one. The PS defines a strong submission as one with a disclosed limitation and penalises overclaiming heavily. If toy scale failed to reproduce the paper's asymmetry, this is where that goes - as an honest difference between reimplementation and published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reusable substrate - the PS defines 'exceptional' as a reusable substrate or a resource people keep using afterwards. LEAVE THIS SLIDE UP during questions so judges can read the URLs while they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Model Surgery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92656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9EC1FF"/>
                </a:solidFill>
                <a:latin typeface="Calibri"/>
              </a:rPr>
              <a:t>When can two neural networks be fused into one?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251960"/>
            <a:ext cx="201168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0"/>
            <a:ext cx="10637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7D3E5"/>
                </a:solidFill>
                <a:latin typeface="Calibri"/>
              </a:rPr>
              <a:t>BDH models can be merged by concatenating their weights, with no retraining.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 tested when that actually works.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8E9EB5"/>
                </a:solidFill>
                <a:latin typeface="Calibri"/>
              </a:rPr>
              <a:t>Team Invariance  ·  Koustav Manna · Upayan Gupta · Deep Pandey · Tanishq Adhikari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E9EB5"/>
                </a:solidFill>
                <a:latin typeface="Calibri"/>
              </a:rPr>
              <a:t>DataForge 2026 · Pathway Track · IIT Kharagpur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E3D"/>
                </a:solidFill>
                <a:latin typeface="Calibri"/>
              </a:rPr>
              <a:t>The claim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37160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37215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707A8A"/>
                </a:solidFill>
                <a:latin typeface="Calibri"/>
              </a:rPr>
              <a:t>Learning effectiveness (15) — the rubric names the one-sentence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A8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Approved topic:  </a:t>
            </a:r>
            <a:r>
              <a:rPr sz="1450" b="1" i="0">
                <a:solidFill>
                  <a:srgbClr val="2F6FED"/>
                </a:solidFill>
                <a:latin typeface="Calibri"/>
              </a:rPr>
              <a:t>Parametric Memory in LLMs</a:t>
            </a:r>
            <a:r>
              <a:rPr sz="1450" b="0" i="0">
                <a:solidFill>
                  <a:srgbClr val="2F6FED"/>
                </a:solidFill>
                <a:latin typeface="Calibri"/>
              </a:rPr>
              <a:t>   +   </a:t>
            </a:r>
            <a:r>
              <a:rPr sz="1450" b="1" i="0">
                <a:solidFill>
                  <a:srgbClr val="2F6FED"/>
                </a:solidFill>
                <a:latin typeface="Calibri"/>
              </a:rPr>
              <a:t>Monosemantic Synapses</a:t>
            </a:r>
            <a:r>
              <a:rPr sz="1450" b="0" i="0">
                <a:solidFill>
                  <a:srgbClr val="2F6FED"/>
                </a:solidFill>
                <a:latin typeface="Calibri"/>
              </a:rPr>
              <a:t>  (mechanism)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63721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200"/>
              </a:spcAft>
            </a:pPr>
            <a:r>
              <a:rPr sz="2500" b="1" i="0">
                <a:solidFill>
                  <a:srgbClr val="0F1E3D"/>
                </a:solidFill>
                <a:latin typeface="Calibri"/>
              </a:rPr>
              <a:t>Whether two BDH models survive being fused is predictable in advance from how much their neurons overlap</a:t>
            </a:r>
            <a:r>
              <a:rPr sz="2500" b="0" i="0">
                <a:solidFill>
                  <a:srgbClr val="0F1E3D"/>
                </a:solidFill>
                <a:latin typeface="Calibri"/>
              </a:rPr>
              <a:t> — and where they do collide, the damage is localized to identifiable neurons rather than diffused through the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10637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D97A0B"/>
                </a:solidFill>
                <a:latin typeface="Calibri"/>
              </a:rPr>
              <a:t>What would falsify it: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 flat damage curve — no relationship between overlap and damage.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Ablating our identified neurons doing no better than ablating random 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E3D"/>
                </a:solidFill>
                <a:latin typeface="Calibri"/>
              </a:rPr>
              <a:t>The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37160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F6FED"/>
                </a:solidFill>
                <a:latin typeface="Calibri"/>
              </a:rPr>
              <a:t>Pathway ran this experiment once, asserted the mechanism, and never tested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§7.1 of the Dragon Hatchling paper: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one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merge,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one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model pair, at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one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uncontrolled and unmeasured level of overlap.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Their stated mechanism, quoted: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"when the model latent space promotes concept disentangling… then it is feasible to directly compose concepts in this space."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Nobody has varied disentanglement and measured what happens.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That curve does not exist in the literature — including at Pathway.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We run the controlled experiment the paper skipped, and build the explainer on our own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707A8A"/>
                </a:solidFill>
                <a:latin typeface="Calibri"/>
              </a:rPr>
              <a:t>Technical correctness and depth (25) — originality of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A8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E3D"/>
                </a:solidFill>
                <a:latin typeface="Calibri"/>
              </a:rPr>
              <a:t>Why BDH can do this and a Transformer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37160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F6FED"/>
                </a:solidFill>
                <a:latin typeface="Calibri"/>
              </a:rPr>
              <a:t>BDH puts all its parameters on one uniform axis. That axis is the surgical plane.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BDH-GPU parameters =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3nd + 2Ωd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 (Def. 4, §3.2) — n is a free scaling axis.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Concatenate along n: two (n × d) matrices stack into (n₁+n₂ × d). The model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grows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both specialisations are preserved.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707A8A"/>
                </a:solidFill>
                <a:latin typeface="Calibri"/>
              </a:rPr>
              <a:t>Technical correctness (25) + BDH integration (10)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A8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1927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ENSEMBLE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03320"/>
            <a:ext cx="868680" cy="457200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37360" y="3703320"/>
            <a:ext cx="868680" cy="457200"/>
          </a:xfrm>
          <a:prstGeom prst="round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4270248"/>
            <a:ext cx="1188720" cy="347472"/>
          </a:xfrm>
          <a:prstGeom prst="roundRect">
            <a:avLst/>
          </a:prstGeom>
          <a:solidFill>
            <a:srgbClr val="7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vote / avg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54879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Outputs combined. N× cost, forever.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Two models, never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1927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AVERAGE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703320"/>
            <a:ext cx="1828800" cy="457200"/>
          </a:xfrm>
          <a:prstGeom prst="roundRect">
            <a:avLst/>
          </a:prstGeom>
          <a:solidFill>
            <a:srgbClr val="8B8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blended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754879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Same size. Needs shared init.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Representations collide.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31927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F6FED"/>
                </a:solidFill>
                <a:latin typeface="Calibri"/>
              </a:rPr>
              <a:t>CONCATENATE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3703320"/>
            <a:ext cx="914400" cy="4572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3703320"/>
            <a:ext cx="914400" cy="457200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754879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Grows capacity. No correspondence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problem. BDH only.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42432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These two topics are one story: </a:t>
            </a:r>
            <a:r>
              <a:rPr sz="1300" b="0" i="0">
                <a:solidFill>
                  <a:srgbClr val="0F1E3D"/>
                </a:solidFill>
                <a:latin typeface="Calibri"/>
              </a:rPr>
              <a:t>memory lives in neurons, each neuron holds roughly one concept, and that is precisely why weight-space composition is possible at 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E3D"/>
                </a:solidFill>
                <a:latin typeface="Calibri"/>
              </a:rPr>
              <a:t>The substrate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37160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F6FED"/>
                </a:solidFill>
                <a:latin typeface="Calibri"/>
              </a:rPr>
              <a:t>A real BDH-GPU model, running in your browser. Four matmuls, no black 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Toy scale, stated plainly: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n ≈ 2048, d = 64, L = 2–4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, character-level, under 1M parameters.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Forward pass written by us in plain JavaScript.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No ONNX, no TensorFlow.js.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Why that matters: every number on screen traces to a line of code we can open during questions.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A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labelled reimplementation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— not an official BDH model, and the UI says so.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⟶ 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LIVE DEMO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707A8A"/>
                </a:solidFill>
                <a:latin typeface="Calibri"/>
              </a:rPr>
              <a:t>Interactive substrate and honesty (15) + technical ownership (15)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A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E3D"/>
                </a:solidFill>
                <a:latin typeface="Calibri"/>
              </a:rPr>
              <a:t>The experiment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37160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F6FED"/>
                </a:solidFill>
                <a:latin typeface="Calibri"/>
              </a:rPr>
              <a:t>Two synthetic languages, a shared pivot, and one knob: how much they overlap.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Parents: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P→A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and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P→B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mirroring the paper's En→Fr / En→Pt setup.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2B2B2B"/>
                </a:solidFill>
                <a:latin typeface="Calibri"/>
              </a:rPr>
              <a:t>θ (designed overlap):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11 levels × 3 seeds = 33 pairs =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66 models trained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2B2B2B"/>
                </a:solidFill>
                <a:latin typeface="Calibri"/>
              </a:rPr>
              <a:t>M (measured overlap):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Hungarian matching on neuron activation profiles, after training.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2B2B2B"/>
                </a:solidFill>
                <a:latin typeface="Calibri"/>
              </a:rPr>
              <a:t>Damage 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merged loss − parent loss, reported per direction, not only pooled.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The phase diagram plots damage against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measured 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not θ — θ is only the mechanism that generates a spread of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707A8A"/>
                </a:solidFill>
                <a:latin typeface="Calibri"/>
              </a:rPr>
              <a:t>Technical correctness and depth (25)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A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E3D"/>
                </a:solidFill>
                <a:latin typeface="Calibri"/>
              </a:rPr>
              <a:t>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37160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F6FED"/>
                </a:solidFill>
                <a:latin typeface="Calibri"/>
              </a:rPr>
              <a:t>Four controls. This is what makes it an experiment instead of a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Averaging arm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— rules out that any fusion would have worked.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Random-ablation baseline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— rules out that ablating anything helps. Matched count k.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Self-merge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— merge a model with an independently seeded copy: the maximum-overlap floor.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Parameter-count control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— merged 2n vs. a single parent trained at 2n: rules out a size effect.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707A8A"/>
                </a:solidFill>
                <a:latin typeface="Calibri"/>
              </a:rPr>
              <a:t>Technical correctness and depth (25) — the largest single criterion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A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E3D"/>
                </a:solidFill>
                <a:latin typeface="Calibri"/>
              </a:rPr>
              <a:t>Result — the phase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37160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F6FED"/>
                </a:solidFill>
                <a:latin typeface="Calibri"/>
              </a:rPr>
              <a:t>Merging is free below ___ overlap, and degrades sharply above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A0B"/>
                </a:solidFill>
                <a:latin typeface="Calibri"/>
              </a:rPr>
              <a:t>[ FILL AFTER SWEEP — structure fixed, numbers pending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637215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707A8A"/>
                </a:solidFill>
                <a:latin typeface="Calibri"/>
              </a:rPr>
              <a:t>Technical correctness (25) + interactive substrate (15)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A8A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97480"/>
            <a:ext cx="6583680" cy="3200400"/>
          </a:xfrm>
          <a:prstGeom prst="rect">
            <a:avLst/>
          </a:prstGeom>
          <a:solidFill>
            <a:srgbClr val="F4F7FB"/>
          </a:solidFill>
          <a:ln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707A8A"/>
                </a:solidFill>
                <a:latin typeface="Calibri"/>
              </a:rPr>
              <a:t>
PHASE DIAGRAM
</a:t>
            </a:r>
          </a:p>
          <a:p>
            <a:pPr algn="ctr"/>
            <a:r>
              <a:rPr sz="1150" b="0" i="0">
                <a:solidFill>
                  <a:srgbClr val="707A8A"/>
                </a:solidFill>
                <a:latin typeface="Calibri"/>
              </a:rPr>
              <a:t>x: measured overlap M     y: merge damage D
error bars across 3 seeds
averaging arm plotted beneath as a flat failure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788920"/>
            <a:ext cx="368777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F6FED"/>
                </a:solidFill>
                <a:latin typeface="Calibri"/>
              </a:rPr>
              <a:t>Report on this slide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The shape found, and the transition point.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Whether the transition is sharp or gradual.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The asymmetry: did translation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the shared pivot survive while translation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out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degraded, as the paper found at full scale?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If the curve is flat, say so — that contradicts the paper's stated mechanism and is a finding, not a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E3D"/>
                </a:solidFill>
                <a:latin typeface="Calibri"/>
              </a:rPr>
              <a:t>Result — localization and repair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37160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F6FED"/>
                </a:solidFill>
                <a:latin typeface="Calibri"/>
              </a:rPr>
              <a:t>Where merging hurts, the damage sits in identifiable neurons. Cut them, and function 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A0B"/>
                </a:solidFill>
                <a:latin typeface="Calibri"/>
              </a:rPr>
              <a:t>[ FILL AFTER SWEEP — structure fixed, numbers pending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637215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707A8A"/>
                </a:solidFill>
                <a:latin typeface="Calibri"/>
              </a:rPr>
              <a:t>Technical correctness (25) + learning effectiveness (15)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A8A"/>
                </a:solidFill>
                <a:latin typeface="Calibr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5029200" cy="2148840"/>
          </a:xfrm>
          <a:prstGeom prst="rect">
            <a:avLst/>
          </a:prstGeom>
          <a:solidFill>
            <a:srgbClr val="F4F7FB"/>
          </a:solidFill>
          <a:ln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707A8A"/>
                </a:solidFill>
                <a:latin typeface="Calibri"/>
              </a:rPr>
              <a:t>
MERGED — damaged</a:t>
            </a:r>
          </a:p>
          <a:p>
            <a:pPr algn="ctr"/>
            <a:r>
              <a:rPr sz="1100" b="0" i="0">
                <a:solidFill>
                  <a:srgbClr val="707A8A"/>
                </a:solidFill>
                <a:latin typeface="Calibri"/>
              </a:rPr>
              <a:t>neuron heat-map + generated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8920"/>
            <a:ext cx="5029200" cy="2148840"/>
          </a:xfrm>
          <a:prstGeom prst="rect">
            <a:avLst/>
          </a:prstGeom>
          <a:solidFill>
            <a:srgbClr val="F4F7FB"/>
          </a:solidFill>
          <a:ln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707A8A"/>
                </a:solidFill>
                <a:latin typeface="Calibri"/>
              </a:rPr>
              <a:t>
AFTER ABLATING COLLISION NEURONS</a:t>
            </a:r>
          </a:p>
          <a:p>
            <a:pPr algn="ctr"/>
            <a:r>
              <a:rPr sz="1100" b="0" i="0">
                <a:solidFill>
                  <a:srgbClr val="707A8A"/>
                </a:solidFill>
                <a:latin typeface="Calibri"/>
              </a:rPr>
              <a:t>neuron heat-map + generated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6636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Recovery of ___ against a random-ablation baseline of ___ at matched k. Recovery curve as a function of k, including where over-ablation starts to hurt.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7A0B"/>
                </a:solidFill>
                <a:latin typeface="Calibri"/>
              </a:rPr>
              <a:t>If localization does not beat random, we report that — the phase diagram stands on its 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E3D"/>
                </a:solidFill>
                <a:latin typeface="Calibri"/>
              </a:rPr>
              <a:t>What is live, what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37160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F6FED"/>
                </a:solidFill>
                <a:latin typeface="Calibri"/>
              </a:rPr>
              <a:t>Everything on screen is labelled: live, precomputed, or illustration.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LIVE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— the forward pass, both merge operations, neuron ablation.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PRECOMPUTED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— the 66-model sweep and the parent weights. Sixty-six models cannot train in a browser.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ILLUSTRATION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— only the opening explanatory diagram, and it says so on screen.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Stated caps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— n capped at ___, sequence length capped at ___. No hidden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707A8A"/>
                </a:solidFill>
                <a:latin typeface="Calibri"/>
              </a:rPr>
              <a:t>Interactive substrate and honesty (15)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A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E3D"/>
                </a:solidFill>
                <a:latin typeface="Calibri"/>
              </a:rPr>
              <a:t>Limits and evidence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37160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F6FED"/>
                </a:solidFill>
                <a:latin typeface="Calibri"/>
              </a:rPr>
              <a:t>What this does not show.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Toy scale: ~1M parameters.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This does not speak for the reported 1B–600B pretraining runs.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Our reimplementation is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labelled as such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and is not an official BDH model.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The paper's Table 2 is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their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result at </a:t>
            </a:r>
            <a:r>
              <a:rPr sz="1700" b="1" i="0">
                <a:solidFill>
                  <a:srgbClr val="2B2B2B"/>
                </a:solidFill>
                <a:latin typeface="Calibri"/>
              </a:rPr>
              <a:t>their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scale — cited, not reproduced by us.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The most important open question we could not answer: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___________.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707A8A"/>
                </a:solidFill>
                <a:latin typeface="Calibri"/>
              </a:rPr>
              <a:t>BDH integration and evidence discipline (10) + technical correctness (25)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A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E3D"/>
                </a:solidFill>
                <a:latin typeface="Calibri"/>
              </a:rPr>
              <a:t>The learning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37160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F6FED"/>
                </a:solidFill>
                <a:latin typeface="Calibri"/>
              </a:rPr>
              <a:t>Four acts. Sixty seconds to the first real understanding.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2B2B2B"/>
                </a:solidFill>
                <a:latin typeface="Calibri"/>
              </a:rPr>
              <a:t>Act 1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 fuse  →  </a:t>
            </a:r>
            <a:r>
              <a:rPr sz="1550" b="1" i="0">
                <a:solidFill>
                  <a:srgbClr val="2B2B2B"/>
                </a:solidFill>
                <a:latin typeface="Calibri"/>
              </a:rPr>
              <a:t>Act 2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 concat vs average  →  </a:t>
            </a:r>
            <a:r>
              <a:rPr sz="1550" b="1" i="0">
                <a:solidFill>
                  <a:srgbClr val="2B2B2B"/>
                </a:solidFill>
                <a:latin typeface="Calibri"/>
              </a:rPr>
              <a:t>Act 3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 drag the phase diagram  →  </a:t>
            </a:r>
            <a:r>
              <a:rPr sz="1550" b="1" i="0">
                <a:solidFill>
                  <a:srgbClr val="2B2B2B"/>
                </a:solidFill>
                <a:latin typeface="Calibri"/>
              </a:rPr>
              <a:t>Act 4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 surgery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2B2B2B"/>
                </a:solidFill>
                <a:latin typeface="Calibri"/>
              </a:rPr>
              <a:t>Audience: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 ML-literate; has not read the BDH paper.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2B2B2B"/>
                </a:solidFill>
                <a:latin typeface="Calibri"/>
              </a:rPr>
              <a:t>Prerequisites: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 what attention does; what a weight matrix is.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2B2B2B"/>
                </a:solidFill>
                <a:latin typeface="Calibri"/>
              </a:rPr>
              <a:t>Learning objectives: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 explain why one uniform dimension permits surgery no Transformer allows; predict when a merge will fail.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2B2B2B"/>
                </a:solidFill>
                <a:latin typeface="Calibri"/>
              </a:rPr>
              <a:t>Reusable after the hackathon: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 the merge sandbox and the overlap metric.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707A8A"/>
                </a:solidFill>
                <a:latin typeface="Calibri"/>
              </a:rPr>
              <a:t>Learning effectiveness (15) + craft and provenance (10)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A8A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532120"/>
            <a:ext cx="10637215" cy="658368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 b="1" i="0">
                <a:solidFill>
                  <a:srgbClr val="9EC1FF"/>
                </a:solidFill>
                <a:latin typeface="Calibri"/>
              </a:rPr>
              <a:t>Artifact: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&lt;url&gt;</a:t>
            </a:r>
            <a:r>
              <a:rPr sz="1300" b="1" i="0">
                <a:solidFill>
                  <a:srgbClr val="9EC1FF"/>
                </a:solidFill>
                <a:latin typeface="Calibri"/>
              </a:rPr>
              <a:t>      Repo: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github.com/Koustav-github/KDAG-Dataforge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