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Fifteen seconds. Name, hook, move on. Do NOT explain BDH yet - the claim lands harder before the background. Have the sandbox already running on the second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claim, then say plainly that both halves were falsified. This is an honest negative result on a question arXiv:2509.26507 SS7.1 raises but never tests, not a failure - say that explicitly. The averaging control (worse than concat in 33/33 runs) and the theta relationship are real positive findings and they stand on their 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you from teams explaining a published result. You are not re-drawing Table 2. Say it plainly, and do not oversell - it is a toy-scale finding and you will say so on slide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you WILL be asked is 'how is this different from an ensemble?'. Answer it before it is asked. Key line: a Transformer has no free axis - hidden size is entangled with every weight matrix, so there is no concatenation operation to even attempt. Averaging is its closest analogue and it needs shared init.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demo HERE, not at the end - if it dies you still have seven slides to recover. If the wifi fails, use the recording, but SAY it is a recording. Note the deliberate choice to avoid a runtime library: a black box between us and the model would cost exactly the ownership points we are scored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the roles reversed from how we designed the experiment: we built M to be the star and theta the mechanism that generates a spread of M. M came back flat; theta carries the entire relationship. That reversal is itself worth narrating, not glossing over.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real time here. The averaging arm and random-ablation baseline are the two that carry the project's actual findings - say what each one showed, not just that it exists. Volunteer the deferred fourth control before being asked; it is disclosed in the README's limitations section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payload, and it inverts the plan: theta is the strong signal, M (the thing we built the metric for) is flat. Walk the theta column left to right - it falls from 0.77 to 0.22 with only one small rise, 0.2 to 0.3. Then point at the M column and say it never moves.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twist: we ran the localization check for the first time during this review and it does not hold up. Say that plainly. The reportable number is always the difference (random minus collision), and five of six cells here are negative - collision-ablated loss sits at or above baseline.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Volunteering this table unprompted is the cheapest scoring in the rubric. The PS explicitly grades whether teams distinguish real behaviour from precomputation and animation. Most teams wait to be asked - put it on a slide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real limitations, not fake-humble ones. The directional-difference bullet is a retraction - say that word out loud if asked; it shows evidence discipline, not weakness. The open-question bullet is the honest close: we don't know if the metric or the hypothesis is wrong, and resolving that is next-experiment territory, not this one's failure.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reusable substrate - the PS defines 'exceptional' as a reusable substrate or a resource people keep using afterwards. LEAVE THIS SLIDE UP during questions so judges can read the URLs while they ask.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E3D"/>
        </a:solidFill>
        <a:effectLst/>
      </p:bgPr>
    </p:bg>
    <p:spTree>
      <p:nvGrpSpPr>
        <p:cNvPr id="1" name=""/>
        <p:cNvGrpSpPr/>
        <p:nvPr/>
      </p:nvGrpSpPr>
      <p:grpSpPr/>
      <p:sp>
        <p:nvSpPr>
          <p:cNvPr id="2" name="TextBox 1"/>
          <p:cNvSpPr txBox="1"/>
          <p:nvPr/>
        </p:nvSpPr>
        <p:spPr>
          <a:xfrm>
            <a:off x="777240" y="2057400"/>
            <a:ext cx="10637215" cy="1188720"/>
          </a:xfrm>
          <a:prstGeom prst="rect">
            <a:avLst/>
          </a:prstGeom>
          <a:noFill/>
        </p:spPr>
        <p:txBody>
          <a:bodyPr wrap="square" anchor="t" lIns="0" rIns="0" tIns="0" bIns="0">
            <a:spAutoFit/>
          </a:bodyPr>
          <a:lstStyle/>
          <a:p>
            <a:pPr>
              <a:spcBef>
                <a:spcPts val="0"/>
              </a:spcBef>
              <a:spcAft>
                <a:spcPts val="0"/>
              </a:spcAft>
            </a:pPr>
            <a:r>
              <a:rPr sz="5400" b="1" i="0">
                <a:solidFill>
                  <a:srgbClr val="FFFFFF"/>
                </a:solidFill>
                <a:latin typeface="Calibri"/>
              </a:rPr>
              <a:t>Model Surgery</a:t>
            </a:r>
          </a:p>
        </p:txBody>
      </p:sp>
      <p:sp>
        <p:nvSpPr>
          <p:cNvPr id="3" name="TextBox 2"/>
          <p:cNvSpPr txBox="1"/>
          <p:nvPr/>
        </p:nvSpPr>
        <p:spPr>
          <a:xfrm>
            <a:off x="777240" y="3154680"/>
            <a:ext cx="9265615" cy="914400"/>
          </a:xfrm>
          <a:prstGeom prst="rect">
            <a:avLst/>
          </a:prstGeom>
          <a:noFill/>
        </p:spPr>
        <p:txBody>
          <a:bodyPr wrap="square" anchor="t" lIns="0" rIns="0" tIns="0" bIns="0">
            <a:spAutoFit/>
          </a:bodyPr>
          <a:lstStyle/>
          <a:p>
            <a:pPr>
              <a:spcBef>
                <a:spcPts val="0"/>
              </a:spcBef>
              <a:spcAft>
                <a:spcPts val="0"/>
              </a:spcAft>
            </a:pPr>
            <a:r>
              <a:rPr sz="2400" b="0" i="0">
                <a:solidFill>
                  <a:srgbClr val="9EC1FF"/>
                </a:solidFill>
                <a:latin typeface="Calibri"/>
              </a:rPr>
              <a:t>When can two neural networks be fused into one?</a:t>
            </a:r>
          </a:p>
        </p:txBody>
      </p:sp>
      <p:sp>
        <p:nvSpPr>
          <p:cNvPr id="4" name="Rectangle 3"/>
          <p:cNvSpPr/>
          <p:nvPr/>
        </p:nvSpPr>
        <p:spPr>
          <a:xfrm>
            <a:off x="777240" y="4251960"/>
            <a:ext cx="2011680" cy="45720"/>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4572000"/>
            <a:ext cx="10637215" cy="1920240"/>
          </a:xfrm>
          <a:prstGeom prst="rect">
            <a:avLst/>
          </a:prstGeom>
          <a:noFill/>
        </p:spPr>
        <p:txBody>
          <a:bodyPr wrap="square" anchor="t" lIns="0" rIns="0" tIns="0" bIns="0">
            <a:spAutoFit/>
          </a:bodyPr>
          <a:lstStyle/>
          <a:p>
            <a:pPr>
              <a:spcBef>
                <a:spcPts val="0"/>
              </a:spcBef>
              <a:spcAft>
                <a:spcPts val="400"/>
              </a:spcAft>
            </a:pPr>
            <a:r>
              <a:rPr sz="1500" b="0" i="0">
                <a:solidFill>
                  <a:srgbClr val="C7D3E5"/>
                </a:solidFill>
                <a:latin typeface="Calibri"/>
              </a:rPr>
              <a:t>BDH models can be merged by concatenating their weights, with no retraining.</a:t>
            </a:r>
          </a:p>
          <a:p>
            <a:pPr>
              <a:spcBef>
                <a:spcPts val="0"/>
              </a:spcBef>
              <a:spcAft>
                <a:spcPts val="1600"/>
              </a:spcAft>
            </a:pPr>
            <a:r>
              <a:rPr sz="1500" b="1" i="0">
                <a:solidFill>
                  <a:srgbClr val="FFFFFF"/>
                </a:solidFill>
                <a:latin typeface="Calibri"/>
              </a:rPr>
              <a:t>We tested when that actually works.</a:t>
            </a:r>
          </a:p>
          <a:p>
            <a:pPr>
              <a:spcBef>
                <a:spcPts val="0"/>
              </a:spcBef>
              <a:spcAft>
                <a:spcPts val="300"/>
              </a:spcAft>
            </a:pPr>
            <a:r>
              <a:rPr sz="1250" b="0" i="0">
                <a:solidFill>
                  <a:srgbClr val="8E9EB5"/>
                </a:solidFill>
                <a:latin typeface="Calibri"/>
              </a:rPr>
              <a:t>Team Invariance  ·  Koustav Manna · Upayan Gupta · Deep Pandey · Tanishq Adhikari</a:t>
            </a:r>
          </a:p>
          <a:p>
            <a:pPr>
              <a:spcBef>
                <a:spcPts val="0"/>
              </a:spcBef>
              <a:spcAft>
                <a:spcPts val="0"/>
              </a:spcAft>
            </a:pPr>
            <a:r>
              <a:rPr sz="1250" b="0" i="0">
                <a:solidFill>
                  <a:srgbClr val="8E9EB5"/>
                </a:solidFill>
                <a:latin typeface="Calibri"/>
              </a:rPr>
              <a:t>DataForge 2026 · Pathway Track · IIT Kharagpur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The claim — revised after the sweep</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645920"/>
            <a:ext cx="10637215" cy="4480560"/>
          </a:xfrm>
          <a:prstGeom prst="rect">
            <a:avLst/>
          </a:prstGeom>
          <a:noFill/>
        </p:spPr>
        <p:txBody>
          <a:bodyPr wrap="square" anchor="t" lIns="0" rIns="0" tIns="0" bIns="0">
            <a:spAutoFit/>
          </a:bodyPr>
          <a:lstStyle/>
          <a:p/>
        </p:txBody>
      </p:sp>
      <p:sp>
        <p:nvSpPr>
          <p:cNvPr id="5" name="TextBox 4"/>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Learning effectiveness (15) — the rubric names the one-sentence claim</a:t>
            </a:r>
          </a:p>
        </p:txBody>
      </p:sp>
      <p:sp>
        <p:nvSpPr>
          <p:cNvPr id="6" name="TextBox 5"/>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2</a:t>
            </a:r>
          </a:p>
        </p:txBody>
      </p:sp>
      <p:sp>
        <p:nvSpPr>
          <p:cNvPr id="7" name="TextBox 6"/>
          <p:cNvSpPr txBox="1"/>
          <p:nvPr/>
        </p:nvSpPr>
        <p:spPr>
          <a:xfrm>
            <a:off x="777240" y="1600200"/>
            <a:ext cx="10637215" cy="685800"/>
          </a:xfrm>
          <a:prstGeom prst="rect">
            <a:avLst/>
          </a:prstGeom>
          <a:noFill/>
        </p:spPr>
        <p:txBody>
          <a:bodyPr wrap="square" anchor="t" lIns="0" rIns="0" tIns="0" bIns="0">
            <a:spAutoFit/>
          </a:bodyPr>
          <a:lstStyle/>
          <a:p>
            <a:pPr>
              <a:spcBef>
                <a:spcPts val="0"/>
              </a:spcBef>
              <a:spcAft>
                <a:spcPts val="0"/>
              </a:spcAft>
            </a:pPr>
            <a:r>
              <a:rPr sz="1450" b="0" i="0">
                <a:solidFill>
                  <a:srgbClr val="2F6FED"/>
                </a:solidFill>
                <a:latin typeface="Calibri"/>
              </a:rPr>
              <a:t>Approved topic:  </a:t>
            </a:r>
            <a:r>
              <a:rPr sz="1450" b="1" i="0">
                <a:solidFill>
                  <a:srgbClr val="2F6FED"/>
                </a:solidFill>
                <a:latin typeface="Calibri"/>
              </a:rPr>
              <a:t>Parametric Memory in LLMs</a:t>
            </a:r>
            <a:r>
              <a:rPr sz="1450" b="0" i="0">
                <a:solidFill>
                  <a:srgbClr val="2F6FED"/>
                </a:solidFill>
                <a:latin typeface="Calibri"/>
              </a:rPr>
              <a:t>   +   </a:t>
            </a:r>
            <a:r>
              <a:rPr sz="1450" b="1" i="0">
                <a:solidFill>
                  <a:srgbClr val="2F6FED"/>
                </a:solidFill>
                <a:latin typeface="Calibri"/>
              </a:rPr>
              <a:t>Monosemantic Synapses</a:t>
            </a:r>
            <a:r>
              <a:rPr sz="1450" b="0" i="0">
                <a:solidFill>
                  <a:srgbClr val="2F6FED"/>
                </a:solidFill>
                <a:latin typeface="Calibri"/>
              </a:rPr>
              <a:t>  (mechanism)</a:t>
            </a:r>
          </a:p>
        </p:txBody>
      </p:sp>
      <p:sp>
        <p:nvSpPr>
          <p:cNvPr id="8" name="TextBox 7"/>
          <p:cNvSpPr txBox="1"/>
          <p:nvPr/>
        </p:nvSpPr>
        <p:spPr>
          <a:xfrm>
            <a:off x="777240" y="2331720"/>
            <a:ext cx="10637215" cy="2148840"/>
          </a:xfrm>
          <a:prstGeom prst="rect">
            <a:avLst/>
          </a:prstGeom>
          <a:noFill/>
        </p:spPr>
        <p:txBody>
          <a:bodyPr wrap="square" anchor="t" lIns="0" rIns="0" tIns="0" bIns="0">
            <a:spAutoFit/>
          </a:bodyPr>
          <a:lstStyle/>
          <a:p>
            <a:pPr>
              <a:spcBef>
                <a:spcPts val="0"/>
              </a:spcBef>
              <a:spcAft>
                <a:spcPts val="1400"/>
              </a:spcAft>
            </a:pPr>
            <a:r>
              <a:rPr sz="2200" b="1" i="0">
                <a:solidFill>
                  <a:srgbClr val="0F1E3D"/>
                </a:solidFill>
                <a:latin typeface="Calibri"/>
              </a:rPr>
              <a:t>Merge damage is strongly predictable</a:t>
            </a:r>
            <a:r>
              <a:rPr sz="2200" b="0" i="0">
                <a:solidFill>
                  <a:srgbClr val="0F1E3D"/>
                </a:solidFill>
                <a:latin typeface="Calibri"/>
              </a:rPr>
              <a:t> — from </a:t>
            </a:r>
            <a:r>
              <a:rPr sz="2200" b="1" i="0">
                <a:solidFill>
                  <a:srgbClr val="0F1E3D"/>
                </a:solidFill>
                <a:latin typeface="Calibri"/>
              </a:rPr>
              <a:t>θ</a:t>
            </a:r>
            <a:r>
              <a:rPr sz="2200" b="0" i="0">
                <a:solidFill>
                  <a:srgbClr val="0F1E3D"/>
                </a:solidFill>
                <a:latin typeface="Calibri"/>
              </a:rPr>
              <a:t>, how much the two parents’ training vocabularies overlap. It is </a:t>
            </a:r>
            <a:r>
              <a:rPr sz="2200" b="1" i="0">
                <a:solidFill>
                  <a:srgbClr val="0F1E3D"/>
                </a:solidFill>
                <a:latin typeface="Calibri"/>
              </a:rPr>
              <a:t>not</a:t>
            </a:r>
            <a:r>
              <a:rPr sz="2200" b="0" i="0">
                <a:solidFill>
                  <a:srgbClr val="0F1E3D"/>
                </a:solidFill>
                <a:latin typeface="Calibri"/>
              </a:rPr>
              <a:t> predictable from </a:t>
            </a:r>
            <a:r>
              <a:rPr sz="2200" b="1" i="0">
                <a:solidFill>
                  <a:srgbClr val="0F1E3D"/>
                </a:solidFill>
                <a:latin typeface="Calibri"/>
              </a:rPr>
              <a:t>M</a:t>
            </a:r>
            <a:r>
              <a:rPr sz="2200" b="0" i="0">
                <a:solidFill>
                  <a:srgbClr val="0F1E3D"/>
                </a:solidFill>
                <a:latin typeface="Calibri"/>
              </a:rPr>
              <a:t>, the neuron-activation overlap we set out to measure, and collision-ablation does not recover function.</a:t>
            </a:r>
          </a:p>
          <a:p>
            <a:pPr>
              <a:spcBef>
                <a:spcPts val="0"/>
              </a:spcBef>
              <a:spcAft>
                <a:spcPts val="0"/>
              </a:spcAft>
            </a:pPr>
            <a:r>
              <a:rPr sz="1400" b="0" i="0">
                <a:solidFill>
                  <a:srgbClr val="2B2B2B"/>
                </a:solidFill>
                <a:latin typeface="Calibri"/>
              </a:rPr>
              <a:t>corr(θ, damage) = </a:t>
            </a:r>
            <a:r>
              <a:rPr sz="1400" b="1" i="0">
                <a:solidFill>
                  <a:srgbClr val="2B2B2B"/>
                </a:solidFill>
                <a:latin typeface="Calibri"/>
              </a:rPr>
              <a:t>−0.991</a:t>
            </a:r>
            <a:r>
              <a:rPr sz="1400" b="0" i="0">
                <a:solidFill>
                  <a:srgbClr val="2B2B2B"/>
                </a:solidFill>
                <a:latin typeface="Calibri"/>
              </a:rPr>
              <a:t> across the 11 per-θ means (</a:t>
            </a:r>
            <a:r>
              <a:rPr sz="1400" b="1" i="0">
                <a:solidFill>
                  <a:srgbClr val="2B2B2B"/>
                </a:solidFill>
                <a:latin typeface="Calibri"/>
              </a:rPr>
              <a:t>−0.790</a:t>
            </a:r>
            <a:r>
              <a:rPr sz="1400" b="0" i="0">
                <a:solidFill>
                  <a:srgbClr val="2B2B2B"/>
                </a:solidFill>
                <a:latin typeface="Calibri"/>
              </a:rPr>
              <a:t> across all 33 runs). M stays flat at </a:t>
            </a:r>
            <a:r>
              <a:rPr sz="1400" b="1" i="0">
                <a:solidFill>
                  <a:srgbClr val="2B2B2B"/>
                </a:solidFill>
                <a:latin typeface="Calibri"/>
              </a:rPr>
              <a:t>0.704–0.728</a:t>
            </a:r>
            <a:r>
              <a:rPr sz="1400" b="0" i="0">
                <a:solidFill>
                  <a:srgbClr val="2B2B2B"/>
                </a:solidFill>
                <a:latin typeface="Calibri"/>
              </a:rPr>
              <a:t> throughout.</a:t>
            </a:r>
          </a:p>
        </p:txBody>
      </p:sp>
      <p:sp>
        <p:nvSpPr>
          <p:cNvPr id="9" name="TextBox 8"/>
          <p:cNvSpPr txBox="1"/>
          <p:nvPr/>
        </p:nvSpPr>
        <p:spPr>
          <a:xfrm>
            <a:off x="777240" y="4709160"/>
            <a:ext cx="10637215" cy="1554480"/>
          </a:xfrm>
          <a:prstGeom prst="rect">
            <a:avLst/>
          </a:prstGeom>
          <a:noFill/>
        </p:spPr>
        <p:txBody>
          <a:bodyPr wrap="square" anchor="t" lIns="0" rIns="0" tIns="0" bIns="0">
            <a:spAutoFit/>
          </a:bodyPr>
          <a:lstStyle/>
          <a:p>
            <a:pPr>
              <a:spcBef>
                <a:spcPts val="0"/>
              </a:spcBef>
              <a:spcAft>
                <a:spcPts val="700"/>
              </a:spcAft>
            </a:pPr>
            <a:r>
              <a:rPr sz="1500" b="1" i="0">
                <a:solidFill>
                  <a:srgbClr val="D97A0B"/>
                </a:solidFill>
                <a:latin typeface="Calibri"/>
              </a:rPr>
              <a:t>Both halves of the original hypothesis were falsified:</a:t>
            </a:r>
          </a:p>
          <a:p>
            <a:pPr>
              <a:spcBef>
                <a:spcPts val="0"/>
              </a:spcBef>
              <a:spcAft>
                <a:spcPts val="500"/>
              </a:spcAft>
            </a:pPr>
            <a:r>
              <a:rPr sz="1400" b="0" i="0">
                <a:solidFill>
                  <a:srgbClr val="2B2B2B"/>
                </a:solidFill>
                <a:latin typeface="Calibri"/>
              </a:rPr>
              <a:t>Mergeability was supposed to be predictable from measured neuron overlap. corr(M, damage) is −0.608 over per-θ means but flips sign to +0.174 over all 33 runs — noise on a flat metric, not a relationship.</a:t>
            </a:r>
          </a:p>
          <a:p>
            <a:pPr>
              <a:spcBef>
                <a:spcPts val="0"/>
              </a:spcBef>
              <a:spcAft>
                <a:spcPts val="0"/>
              </a:spcAft>
            </a:pPr>
            <a:r>
              <a:rPr sz="1400" b="0" i="0">
                <a:solidFill>
                  <a:srgbClr val="2B2B2B"/>
                </a:solidFill>
                <a:latin typeface="Calibri"/>
              </a:rPr>
              <a:t>Collision damage was supposed to localize to identifiable neurons. Ablating them never beats a size-matched random-ablation control — it is significantly worse at k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The gap</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Pathway ran this experiment once, asserted the mechanism, and never tested it.</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700" b="0" i="0">
                <a:solidFill>
                  <a:srgbClr val="2B2B2B"/>
                </a:solidFill>
                <a:latin typeface="Calibri"/>
              </a:rPr>
              <a:t>§7.1 of the Dragon Hatchling paper: </a:t>
            </a:r>
            <a:r>
              <a:rPr sz="1700" b="1" i="0">
                <a:solidFill>
                  <a:srgbClr val="2B2B2B"/>
                </a:solidFill>
                <a:latin typeface="Calibri"/>
              </a:rPr>
              <a:t>one</a:t>
            </a:r>
            <a:r>
              <a:rPr sz="1700" b="0" i="0">
                <a:solidFill>
                  <a:srgbClr val="2B2B2B"/>
                </a:solidFill>
                <a:latin typeface="Calibri"/>
              </a:rPr>
              <a:t> merge, </a:t>
            </a:r>
            <a:r>
              <a:rPr sz="1700" b="1" i="0">
                <a:solidFill>
                  <a:srgbClr val="2B2B2B"/>
                </a:solidFill>
                <a:latin typeface="Calibri"/>
              </a:rPr>
              <a:t>one</a:t>
            </a:r>
            <a:r>
              <a:rPr sz="1700" b="0" i="0">
                <a:solidFill>
                  <a:srgbClr val="2B2B2B"/>
                </a:solidFill>
                <a:latin typeface="Calibri"/>
              </a:rPr>
              <a:t> model pair, at </a:t>
            </a:r>
            <a:r>
              <a:rPr sz="1700" b="1" i="0">
                <a:solidFill>
                  <a:srgbClr val="2B2B2B"/>
                </a:solidFill>
                <a:latin typeface="Calibri"/>
              </a:rPr>
              <a:t>one</a:t>
            </a:r>
            <a:r>
              <a:rPr sz="1700" b="0" i="0">
                <a:solidFill>
                  <a:srgbClr val="2B2B2B"/>
                </a:solidFill>
                <a:latin typeface="Calibri"/>
              </a:rPr>
              <a:t> uncontrolled and unmeasured level of overlap.</a:t>
            </a:r>
          </a:p>
          <a:p>
            <a:pPr>
              <a:spcBef>
                <a:spcPts val="0"/>
              </a:spcBef>
              <a:spcAft>
                <a:spcPts val="1300"/>
              </a:spcAft>
            </a:pPr>
            <a:r>
              <a:rPr sz="1700" b="0" i="0">
                <a:solidFill>
                  <a:srgbClr val="2B2B2B"/>
                </a:solidFill>
                <a:latin typeface="Calibri"/>
              </a:rPr>
              <a:t>Their stated mechanism, quoted: </a:t>
            </a:r>
            <a:r>
              <a:rPr sz="1700" b="1" i="0">
                <a:solidFill>
                  <a:srgbClr val="2B2B2B"/>
                </a:solidFill>
                <a:latin typeface="Calibri"/>
              </a:rPr>
              <a:t>"when the model latent space promotes concept disentangling… then it is feasible to directly compose concepts in this space."</a:t>
            </a:r>
          </a:p>
          <a:p>
            <a:pPr>
              <a:spcBef>
                <a:spcPts val="0"/>
              </a:spcBef>
              <a:spcAft>
                <a:spcPts val="1300"/>
              </a:spcAft>
            </a:pPr>
            <a:r>
              <a:rPr sz="1700" b="1" i="0">
                <a:solidFill>
                  <a:srgbClr val="2B2B2B"/>
                </a:solidFill>
                <a:latin typeface="Calibri"/>
              </a:rPr>
              <a:t>Nobody has varied disentanglement and measured what happens.</a:t>
            </a:r>
            <a:r>
              <a:rPr sz="1700" b="0" i="0">
                <a:solidFill>
                  <a:srgbClr val="2B2B2B"/>
                </a:solidFill>
                <a:latin typeface="Calibri"/>
              </a:rPr>
              <a:t> That curve does not exist in the literature — including at Pathway.</a:t>
            </a:r>
          </a:p>
          <a:p>
            <a:pPr>
              <a:spcBef>
                <a:spcPts val="0"/>
              </a:spcBef>
              <a:spcAft>
                <a:spcPts val="1300"/>
              </a:spcAft>
            </a:pPr>
            <a:r>
              <a:rPr sz="1700" b="0" i="0">
                <a:solidFill>
                  <a:srgbClr val="2B2B2B"/>
                </a:solidFill>
                <a:latin typeface="Calibri"/>
              </a:rPr>
              <a:t>We run the controlled experiment the paper skipped, and build the explainer on our own result.</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and depth (25) — originality of contribution</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Why BDH can do this and a Transformer cannot</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BDH puts all its parameters on one uniform axis. That axis is the surgical plane.</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600" b="0" i="0">
                <a:solidFill>
                  <a:srgbClr val="2B2B2B"/>
                </a:solidFill>
                <a:latin typeface="Calibri"/>
              </a:rPr>
              <a:t>BDH-GPU parameters = </a:t>
            </a:r>
            <a:r>
              <a:rPr sz="1600" b="1" i="0">
                <a:solidFill>
                  <a:srgbClr val="2B2B2B"/>
                </a:solidFill>
                <a:latin typeface="Calibri"/>
              </a:rPr>
              <a:t>3nd + 2Ωd</a:t>
            </a:r>
            <a:r>
              <a:rPr sz="1600" b="0" i="0">
                <a:solidFill>
                  <a:srgbClr val="2B2B2B"/>
                </a:solidFill>
                <a:latin typeface="Calibri"/>
              </a:rPr>
              <a:t>  (Def. 4, §3.2) — n is a free scaling axis.</a:t>
            </a:r>
          </a:p>
          <a:p>
            <a:pPr>
              <a:spcBef>
                <a:spcPts val="0"/>
              </a:spcBef>
              <a:spcAft>
                <a:spcPts val="1300"/>
              </a:spcAft>
            </a:pPr>
            <a:r>
              <a:rPr sz="1600" b="0" i="0">
                <a:solidFill>
                  <a:srgbClr val="2B2B2B"/>
                </a:solidFill>
                <a:latin typeface="Calibri"/>
              </a:rPr>
              <a:t>Concatenate along n: two (n × d) matrices stack into (n₁+n₂ × d). The model </a:t>
            </a:r>
            <a:r>
              <a:rPr sz="1600" b="1" i="0">
                <a:solidFill>
                  <a:srgbClr val="2B2B2B"/>
                </a:solidFill>
                <a:latin typeface="Calibri"/>
              </a:rPr>
              <a:t>grows</a:t>
            </a:r>
            <a:r>
              <a:rPr sz="1600" b="0" i="0">
                <a:solidFill>
                  <a:srgbClr val="2B2B2B"/>
                </a:solidFill>
                <a:latin typeface="Calibri"/>
              </a:rPr>
              <a:t>; both specialisations are preserved.</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(25) + BDH integration (10)</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4</a:t>
            </a:r>
          </a:p>
        </p:txBody>
      </p:sp>
      <p:sp>
        <p:nvSpPr>
          <p:cNvPr id="8" name="TextBox 7"/>
          <p:cNvSpPr txBox="1"/>
          <p:nvPr/>
        </p:nvSpPr>
        <p:spPr>
          <a:xfrm>
            <a:off x="777240" y="3319272"/>
            <a:ext cx="3200400" cy="320040"/>
          </a:xfrm>
          <a:prstGeom prst="rect">
            <a:avLst/>
          </a:prstGeom>
          <a:noFill/>
        </p:spPr>
        <p:txBody>
          <a:bodyPr wrap="square" anchor="t" lIns="0" rIns="0" tIns="0" bIns="0">
            <a:spAutoFit/>
          </a:bodyPr>
          <a:lstStyle/>
          <a:p>
            <a:pPr>
              <a:spcBef>
                <a:spcPts val="0"/>
              </a:spcBef>
              <a:spcAft>
                <a:spcPts val="0"/>
              </a:spcAft>
            </a:pPr>
            <a:r>
              <a:rPr sz="1250" b="1" i="0">
                <a:solidFill>
                  <a:srgbClr val="0F1E3D"/>
                </a:solidFill>
                <a:latin typeface="Calibri"/>
              </a:rPr>
              <a:t>ENSEMBLE</a:t>
            </a:r>
          </a:p>
        </p:txBody>
      </p:sp>
      <p:sp>
        <p:nvSpPr>
          <p:cNvPr id="9" name="Rounded Rectangle 8"/>
          <p:cNvSpPr/>
          <p:nvPr/>
        </p:nvSpPr>
        <p:spPr>
          <a:xfrm>
            <a:off x="777240" y="3703320"/>
            <a:ext cx="868680" cy="457200"/>
          </a:xfrm>
          <a:prstGeom prst="round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737360" y="3703320"/>
            <a:ext cx="868680" cy="457200"/>
          </a:xfrm>
          <a:prstGeom prst="roundRect">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97280" y="4270248"/>
            <a:ext cx="1188720" cy="347472"/>
          </a:xfrm>
          <a:prstGeom prst="roundRect">
            <a:avLst/>
          </a:prstGeom>
          <a:solidFill>
            <a:srgbClr val="707A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i="0">
                <a:solidFill>
                  <a:srgbClr val="FFFFFF"/>
                </a:solidFill>
                <a:latin typeface="Calibri"/>
              </a:rPr>
              <a:t>vote / avg outputs</a:t>
            </a:r>
          </a:p>
        </p:txBody>
      </p:sp>
      <p:sp>
        <p:nvSpPr>
          <p:cNvPr id="12" name="TextBox 11"/>
          <p:cNvSpPr txBox="1"/>
          <p:nvPr/>
        </p:nvSpPr>
        <p:spPr>
          <a:xfrm>
            <a:off x="777240" y="4754879"/>
            <a:ext cx="3017520" cy="822960"/>
          </a:xfrm>
          <a:prstGeom prst="rect">
            <a:avLst/>
          </a:prstGeom>
          <a:noFill/>
        </p:spPr>
        <p:txBody>
          <a:bodyPr wrap="square" anchor="t" lIns="0" rIns="0" tIns="0" bIns="0">
            <a:spAutoFit/>
          </a:bodyPr>
          <a:lstStyle/>
          <a:p>
            <a:pPr>
              <a:spcBef>
                <a:spcPts val="0"/>
              </a:spcBef>
              <a:spcAft>
                <a:spcPts val="200"/>
              </a:spcAft>
            </a:pPr>
            <a:r>
              <a:rPr sz="1100" b="0" i="0">
                <a:solidFill>
                  <a:srgbClr val="707A8A"/>
                </a:solidFill>
                <a:latin typeface="Calibri"/>
              </a:rPr>
              <a:t>Outputs combined. N× cost, forever.</a:t>
            </a:r>
          </a:p>
          <a:p>
            <a:pPr>
              <a:spcBef>
                <a:spcPts val="0"/>
              </a:spcBef>
              <a:spcAft>
                <a:spcPts val="200"/>
              </a:spcAft>
            </a:pPr>
            <a:r>
              <a:rPr sz="1100" b="0" i="0">
                <a:solidFill>
                  <a:srgbClr val="707A8A"/>
                </a:solidFill>
                <a:latin typeface="Calibri"/>
              </a:rPr>
              <a:t>Two models, never one.</a:t>
            </a:r>
          </a:p>
        </p:txBody>
      </p:sp>
      <p:sp>
        <p:nvSpPr>
          <p:cNvPr id="13" name="TextBox 12"/>
          <p:cNvSpPr txBox="1"/>
          <p:nvPr/>
        </p:nvSpPr>
        <p:spPr>
          <a:xfrm>
            <a:off x="4572000" y="3319272"/>
            <a:ext cx="3200400" cy="320040"/>
          </a:xfrm>
          <a:prstGeom prst="rect">
            <a:avLst/>
          </a:prstGeom>
          <a:noFill/>
        </p:spPr>
        <p:txBody>
          <a:bodyPr wrap="square" anchor="t" lIns="0" rIns="0" tIns="0" bIns="0">
            <a:spAutoFit/>
          </a:bodyPr>
          <a:lstStyle/>
          <a:p>
            <a:pPr>
              <a:spcBef>
                <a:spcPts val="0"/>
              </a:spcBef>
              <a:spcAft>
                <a:spcPts val="0"/>
              </a:spcAft>
            </a:pPr>
            <a:r>
              <a:rPr sz="1250" b="1" i="0">
                <a:solidFill>
                  <a:srgbClr val="0F1E3D"/>
                </a:solidFill>
                <a:latin typeface="Calibri"/>
              </a:rPr>
              <a:t>AVERAGE</a:t>
            </a:r>
          </a:p>
        </p:txBody>
      </p:sp>
      <p:sp>
        <p:nvSpPr>
          <p:cNvPr id="14" name="Rounded Rectangle 13"/>
          <p:cNvSpPr/>
          <p:nvPr/>
        </p:nvSpPr>
        <p:spPr>
          <a:xfrm>
            <a:off x="4572000" y="3703320"/>
            <a:ext cx="1828800" cy="457200"/>
          </a:xfrm>
          <a:prstGeom prst="roundRect">
            <a:avLst/>
          </a:prstGeom>
          <a:solidFill>
            <a:srgbClr val="8B84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00" b="0" i="0">
                <a:solidFill>
                  <a:srgbClr val="FFFFFF"/>
                </a:solidFill>
                <a:latin typeface="Calibri"/>
              </a:rPr>
              <a:t>blended</a:t>
            </a:r>
          </a:p>
        </p:txBody>
      </p:sp>
      <p:sp>
        <p:nvSpPr>
          <p:cNvPr id="15" name="TextBox 14"/>
          <p:cNvSpPr txBox="1"/>
          <p:nvPr/>
        </p:nvSpPr>
        <p:spPr>
          <a:xfrm>
            <a:off x="4572000" y="4754879"/>
            <a:ext cx="3017520" cy="822960"/>
          </a:xfrm>
          <a:prstGeom prst="rect">
            <a:avLst/>
          </a:prstGeom>
          <a:noFill/>
        </p:spPr>
        <p:txBody>
          <a:bodyPr wrap="square" anchor="t" lIns="0" rIns="0" tIns="0" bIns="0">
            <a:spAutoFit/>
          </a:bodyPr>
          <a:lstStyle/>
          <a:p>
            <a:pPr>
              <a:spcBef>
                <a:spcPts val="0"/>
              </a:spcBef>
              <a:spcAft>
                <a:spcPts val="200"/>
              </a:spcAft>
            </a:pPr>
            <a:r>
              <a:rPr sz="1100" b="0" i="0">
                <a:solidFill>
                  <a:srgbClr val="707A8A"/>
                </a:solidFill>
                <a:latin typeface="Calibri"/>
              </a:rPr>
              <a:t>Same size. Needs shared init.</a:t>
            </a:r>
          </a:p>
          <a:p>
            <a:pPr>
              <a:spcBef>
                <a:spcPts val="0"/>
              </a:spcBef>
              <a:spcAft>
                <a:spcPts val="200"/>
              </a:spcAft>
            </a:pPr>
            <a:r>
              <a:rPr sz="1100" b="0" i="0">
                <a:solidFill>
                  <a:srgbClr val="707A8A"/>
                </a:solidFill>
                <a:latin typeface="Calibri"/>
              </a:rPr>
              <a:t>Representations collide.</a:t>
            </a:r>
          </a:p>
        </p:txBody>
      </p:sp>
      <p:sp>
        <p:nvSpPr>
          <p:cNvPr id="16" name="TextBox 15"/>
          <p:cNvSpPr txBox="1"/>
          <p:nvPr/>
        </p:nvSpPr>
        <p:spPr>
          <a:xfrm>
            <a:off x="8366760" y="3319272"/>
            <a:ext cx="3200400" cy="320040"/>
          </a:xfrm>
          <a:prstGeom prst="rect">
            <a:avLst/>
          </a:prstGeom>
          <a:noFill/>
        </p:spPr>
        <p:txBody>
          <a:bodyPr wrap="square" anchor="t" lIns="0" rIns="0" tIns="0" bIns="0">
            <a:spAutoFit/>
          </a:bodyPr>
          <a:lstStyle/>
          <a:p>
            <a:pPr>
              <a:spcBef>
                <a:spcPts val="0"/>
              </a:spcBef>
              <a:spcAft>
                <a:spcPts val="0"/>
              </a:spcAft>
            </a:pPr>
            <a:r>
              <a:rPr sz="1250" b="1" i="0">
                <a:solidFill>
                  <a:srgbClr val="2F6FED"/>
                </a:solidFill>
                <a:latin typeface="Calibri"/>
              </a:rPr>
              <a:t>CONCATENATE</a:t>
            </a:r>
          </a:p>
        </p:txBody>
      </p:sp>
      <p:sp>
        <p:nvSpPr>
          <p:cNvPr id="17" name="Rectangle 16"/>
          <p:cNvSpPr/>
          <p:nvPr/>
        </p:nvSpPr>
        <p:spPr>
          <a:xfrm>
            <a:off x="8366760" y="3703320"/>
            <a:ext cx="914400" cy="45720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281160" y="3703320"/>
            <a:ext cx="914400" cy="457200"/>
          </a:xfrm>
          <a:prstGeom prst="rect">
            <a:avLst/>
          </a:prstGeom>
          <a:solidFill>
            <a:srgbClr val="E88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4754879"/>
            <a:ext cx="3017520" cy="822960"/>
          </a:xfrm>
          <a:prstGeom prst="rect">
            <a:avLst/>
          </a:prstGeom>
          <a:noFill/>
        </p:spPr>
        <p:txBody>
          <a:bodyPr wrap="square" anchor="t" lIns="0" rIns="0" tIns="0" bIns="0">
            <a:spAutoFit/>
          </a:bodyPr>
          <a:lstStyle/>
          <a:p>
            <a:pPr>
              <a:spcBef>
                <a:spcPts val="0"/>
              </a:spcBef>
              <a:spcAft>
                <a:spcPts val="200"/>
              </a:spcAft>
            </a:pPr>
            <a:r>
              <a:rPr sz="1100" b="0" i="0">
                <a:solidFill>
                  <a:srgbClr val="707A8A"/>
                </a:solidFill>
                <a:latin typeface="Calibri"/>
              </a:rPr>
              <a:t>Grows capacity. No correspondence</a:t>
            </a:r>
          </a:p>
          <a:p>
            <a:pPr>
              <a:spcBef>
                <a:spcPts val="0"/>
              </a:spcBef>
              <a:spcAft>
                <a:spcPts val="200"/>
              </a:spcAft>
            </a:pPr>
            <a:r>
              <a:rPr sz="1100" b="0" i="0">
                <a:solidFill>
                  <a:srgbClr val="707A8A"/>
                </a:solidFill>
                <a:latin typeface="Calibri"/>
              </a:rPr>
              <a:t>problem. BDH only.</a:t>
            </a:r>
          </a:p>
        </p:txBody>
      </p:sp>
      <p:sp>
        <p:nvSpPr>
          <p:cNvPr id="20" name="TextBox 19"/>
          <p:cNvSpPr txBox="1"/>
          <p:nvPr/>
        </p:nvSpPr>
        <p:spPr>
          <a:xfrm>
            <a:off x="777240" y="5742432"/>
            <a:ext cx="10637215" cy="502920"/>
          </a:xfrm>
          <a:prstGeom prst="rect">
            <a:avLst/>
          </a:prstGeom>
          <a:noFill/>
        </p:spPr>
        <p:txBody>
          <a:bodyPr wrap="square" anchor="t" lIns="0" rIns="0" tIns="0" bIns="0">
            <a:spAutoFit/>
          </a:bodyPr>
          <a:lstStyle/>
          <a:p>
            <a:pPr>
              <a:spcBef>
                <a:spcPts val="0"/>
              </a:spcBef>
              <a:spcAft>
                <a:spcPts val="0"/>
              </a:spcAft>
            </a:pPr>
            <a:r>
              <a:rPr sz="1300" b="1" i="0">
                <a:solidFill>
                  <a:srgbClr val="0F1E3D"/>
                </a:solidFill>
                <a:latin typeface="Calibri"/>
              </a:rPr>
              <a:t>These two topics are one story: </a:t>
            </a:r>
            <a:r>
              <a:rPr sz="1300" b="0" i="0">
                <a:solidFill>
                  <a:srgbClr val="0F1E3D"/>
                </a:solidFill>
                <a:latin typeface="Calibri"/>
              </a:rPr>
              <a:t>memory lives in neurons, each neuron holds roughly one concept, and that is precisely why weight-space composition is possible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The substrate</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A real BDH-GPU model, running in your browser. Four matmuls, no black box.</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700" b="0" i="0">
                <a:solidFill>
                  <a:srgbClr val="2B2B2B"/>
                </a:solidFill>
                <a:latin typeface="Calibri"/>
              </a:rPr>
              <a:t>Toy scale, stated plainly: </a:t>
            </a:r>
            <a:r>
              <a:rPr sz="1700" b="1" i="0">
                <a:solidFill>
                  <a:srgbClr val="2B2B2B"/>
                </a:solidFill>
                <a:latin typeface="Calibri"/>
              </a:rPr>
              <a:t>n = 1024 per parent (2048 merged), d = 64, n_layer = 4</a:t>
            </a:r>
            <a:r>
              <a:rPr sz="1700" b="0" i="0">
                <a:solidFill>
                  <a:srgbClr val="2B2B2B"/>
                </a:solidFill>
                <a:latin typeface="Calibri"/>
              </a:rPr>
              <a:t>, over a 96-token synthetic vocabulary — not characters — under 1M parameters.</a:t>
            </a:r>
          </a:p>
          <a:p>
            <a:pPr>
              <a:spcBef>
                <a:spcPts val="0"/>
              </a:spcBef>
              <a:spcAft>
                <a:spcPts val="1300"/>
              </a:spcAft>
            </a:pPr>
            <a:r>
              <a:rPr sz="1700" b="0" i="0">
                <a:solidFill>
                  <a:srgbClr val="2B2B2B"/>
                </a:solidFill>
                <a:latin typeface="Calibri"/>
              </a:rPr>
              <a:t>Forward pass written by us in plain JavaScript. </a:t>
            </a:r>
            <a:r>
              <a:rPr sz="1700" b="1" i="0">
                <a:solidFill>
                  <a:srgbClr val="2B2B2B"/>
                </a:solidFill>
                <a:latin typeface="Calibri"/>
              </a:rPr>
              <a:t>No ONNX, no TensorFlow.js.</a:t>
            </a:r>
          </a:p>
          <a:p>
            <a:pPr>
              <a:spcBef>
                <a:spcPts val="0"/>
              </a:spcBef>
              <a:spcAft>
                <a:spcPts val="1300"/>
              </a:spcAft>
            </a:pPr>
            <a:r>
              <a:rPr sz="1700" b="0" i="0">
                <a:solidFill>
                  <a:srgbClr val="2B2B2B"/>
                </a:solidFill>
                <a:latin typeface="Calibri"/>
              </a:rPr>
              <a:t>Why that matters: every number on screen traces to a line of code we can open during questions.</a:t>
            </a:r>
          </a:p>
          <a:p>
            <a:pPr>
              <a:spcBef>
                <a:spcPts val="0"/>
              </a:spcBef>
              <a:spcAft>
                <a:spcPts val="1300"/>
              </a:spcAft>
            </a:pPr>
            <a:r>
              <a:rPr sz="1700" b="0" i="0">
                <a:solidFill>
                  <a:srgbClr val="2B2B2B"/>
                </a:solidFill>
                <a:latin typeface="Calibri"/>
              </a:rPr>
              <a:t>A </a:t>
            </a:r>
            <a:r>
              <a:rPr sz="1700" b="1" i="0">
                <a:solidFill>
                  <a:srgbClr val="2B2B2B"/>
                </a:solidFill>
                <a:latin typeface="Calibri"/>
              </a:rPr>
              <a:t>labelled reimplementation</a:t>
            </a:r>
            <a:r>
              <a:rPr sz="1700" b="0" i="0">
                <a:solidFill>
                  <a:srgbClr val="2B2B2B"/>
                </a:solidFill>
                <a:latin typeface="Calibri"/>
              </a:rPr>
              <a:t> — not an official BDH model, and the UI says so.</a:t>
            </a:r>
          </a:p>
          <a:p>
            <a:pPr>
              <a:spcBef>
                <a:spcPts val="0"/>
              </a:spcBef>
              <a:spcAft>
                <a:spcPts val="1300"/>
              </a:spcAft>
            </a:pPr>
            <a:r>
              <a:rPr sz="1700" b="0" i="0">
                <a:solidFill>
                  <a:srgbClr val="2B2B2B"/>
                </a:solidFill>
                <a:latin typeface="Calibri"/>
              </a:rPr>
              <a:t>⟶  </a:t>
            </a:r>
            <a:r>
              <a:rPr sz="1700" b="1" i="0">
                <a:solidFill>
                  <a:srgbClr val="2B2B2B"/>
                </a:solidFill>
                <a:latin typeface="Calibri"/>
              </a:rPr>
              <a:t>LIVE DEMO HERE</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Interactive substrate and honesty (15) + technical ownership (15)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The experiment</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Two synthetic languages, a shared pivot, and one knob: how much they overlap.</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600" b="0" i="0">
                <a:solidFill>
                  <a:srgbClr val="2B2B2B"/>
                </a:solidFill>
                <a:latin typeface="Calibri"/>
              </a:rPr>
              <a:t>Parents: </a:t>
            </a:r>
            <a:r>
              <a:rPr sz="1600" b="1" i="0">
                <a:solidFill>
                  <a:srgbClr val="2B2B2B"/>
                </a:solidFill>
                <a:latin typeface="Calibri"/>
              </a:rPr>
              <a:t>P→A</a:t>
            </a:r>
            <a:r>
              <a:rPr sz="1600" b="0" i="0">
                <a:solidFill>
                  <a:srgbClr val="2B2B2B"/>
                </a:solidFill>
                <a:latin typeface="Calibri"/>
              </a:rPr>
              <a:t> and </a:t>
            </a:r>
            <a:r>
              <a:rPr sz="1600" b="1" i="0">
                <a:solidFill>
                  <a:srgbClr val="2B2B2B"/>
                </a:solidFill>
                <a:latin typeface="Calibri"/>
              </a:rPr>
              <a:t>P→B</a:t>
            </a:r>
            <a:r>
              <a:rPr sz="1600" b="0" i="0">
                <a:solidFill>
                  <a:srgbClr val="2B2B2B"/>
                </a:solidFill>
                <a:latin typeface="Calibri"/>
              </a:rPr>
              <a:t>, mirroring the paper's En→Fr / En→Pt setup.</a:t>
            </a:r>
          </a:p>
          <a:p>
            <a:pPr>
              <a:spcBef>
                <a:spcPts val="0"/>
              </a:spcBef>
              <a:spcAft>
                <a:spcPts val="1300"/>
              </a:spcAft>
            </a:pPr>
            <a:r>
              <a:rPr sz="1600" b="1" i="0">
                <a:solidFill>
                  <a:srgbClr val="2B2B2B"/>
                </a:solidFill>
                <a:latin typeface="Calibri"/>
              </a:rPr>
              <a:t>θ (designed overlap):</a:t>
            </a:r>
            <a:r>
              <a:rPr sz="1600" b="0" i="0">
                <a:solidFill>
                  <a:srgbClr val="2B2B2B"/>
                </a:solidFill>
                <a:latin typeface="Calibri"/>
              </a:rPr>
              <a:t> 11 levels × 3 seeds = 33 pairs = </a:t>
            </a:r>
            <a:r>
              <a:rPr sz="1600" b="1" i="0">
                <a:solidFill>
                  <a:srgbClr val="2B2B2B"/>
                </a:solidFill>
                <a:latin typeface="Calibri"/>
              </a:rPr>
              <a:t>66 models trained</a:t>
            </a:r>
            <a:r>
              <a:rPr sz="1600" b="0" i="0">
                <a:solidFill>
                  <a:srgbClr val="2B2B2B"/>
                </a:solidFill>
                <a:latin typeface="Calibri"/>
              </a:rPr>
              <a:t>.</a:t>
            </a:r>
          </a:p>
          <a:p>
            <a:pPr>
              <a:spcBef>
                <a:spcPts val="0"/>
              </a:spcBef>
              <a:spcAft>
                <a:spcPts val="1300"/>
              </a:spcAft>
            </a:pPr>
            <a:r>
              <a:rPr sz="1600" b="1" i="0">
                <a:solidFill>
                  <a:srgbClr val="2B2B2B"/>
                </a:solidFill>
                <a:latin typeface="Calibri"/>
              </a:rPr>
              <a:t>M (measured overlap):</a:t>
            </a:r>
            <a:r>
              <a:rPr sz="1600" b="0" i="0">
                <a:solidFill>
                  <a:srgbClr val="2B2B2B"/>
                </a:solidFill>
                <a:latin typeface="Calibri"/>
              </a:rPr>
              <a:t> Hungarian matching on neuron activation profiles, after training.</a:t>
            </a:r>
          </a:p>
          <a:p>
            <a:pPr>
              <a:spcBef>
                <a:spcPts val="0"/>
              </a:spcBef>
              <a:spcAft>
                <a:spcPts val="1300"/>
              </a:spcAft>
            </a:pPr>
            <a:r>
              <a:rPr sz="1600" b="1" i="0">
                <a:solidFill>
                  <a:srgbClr val="2B2B2B"/>
                </a:solidFill>
                <a:latin typeface="Calibri"/>
              </a:rPr>
              <a:t>Damage D</a:t>
            </a:r>
            <a:r>
              <a:rPr sz="1600" b="0" i="0">
                <a:solidFill>
                  <a:srgbClr val="2B2B2B"/>
                </a:solidFill>
                <a:latin typeface="Calibri"/>
              </a:rPr>
              <a:t> = merged loss − parent loss, reported per direction, not only pooled.</a:t>
            </a:r>
          </a:p>
          <a:p>
            <a:pPr>
              <a:spcBef>
                <a:spcPts val="0"/>
              </a:spcBef>
              <a:spcAft>
                <a:spcPts val="1300"/>
              </a:spcAft>
            </a:pPr>
            <a:r>
              <a:rPr sz="1600" b="0" i="0">
                <a:solidFill>
                  <a:srgbClr val="2B2B2B"/>
                </a:solidFill>
                <a:latin typeface="Calibri"/>
              </a:rPr>
              <a:t>The phase diagram plots damage against </a:t>
            </a:r>
            <a:r>
              <a:rPr sz="1600" b="1" i="0">
                <a:solidFill>
                  <a:srgbClr val="2B2B2B"/>
                </a:solidFill>
                <a:latin typeface="Calibri"/>
              </a:rPr>
              <a:t>θ by default</a:t>
            </a:r>
            <a:r>
              <a:rPr sz="1600" b="0" i="0">
                <a:solidFill>
                  <a:srgbClr val="2B2B2B"/>
                </a:solidFill>
                <a:latin typeface="Calibri"/>
              </a:rPr>
              <a:t> — that turned out to carry the whole relationship — with a toggle to plot against </a:t>
            </a:r>
            <a:r>
              <a:rPr sz="1600" b="1" i="0">
                <a:solidFill>
                  <a:srgbClr val="2B2B2B"/>
                </a:solidFill>
                <a:latin typeface="Calibri"/>
              </a:rPr>
              <a:t>M</a:t>
            </a:r>
            <a:r>
              <a:rPr sz="1600" b="0" i="0">
                <a:solidFill>
                  <a:srgbClr val="2B2B2B"/>
                </a:solidFill>
                <a:latin typeface="Calibri"/>
              </a:rPr>
              <a:t> instead, which turned out flat throughout.</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and depth (25)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Controls</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Three controls. This is what makes it an experiment instead of a demo.</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700" b="1" i="0">
                <a:solidFill>
                  <a:srgbClr val="2B2B2B"/>
                </a:solidFill>
                <a:latin typeface="Calibri"/>
              </a:rPr>
              <a:t>Averaging arm</a:t>
            </a:r>
            <a:r>
              <a:rPr sz="1700" b="0" i="0">
                <a:solidFill>
                  <a:srgbClr val="2B2B2B"/>
                </a:solidFill>
                <a:latin typeface="Calibri"/>
              </a:rPr>
              <a:t> — rules out that any fusion would have worked. It is the strongest result in the project: worse than concatenation in 33 of 33 runs and at all 11 θ values.</a:t>
            </a:r>
          </a:p>
          <a:p>
            <a:pPr>
              <a:spcBef>
                <a:spcPts val="0"/>
              </a:spcBef>
              <a:spcAft>
                <a:spcPts val="1300"/>
              </a:spcAft>
            </a:pPr>
            <a:r>
              <a:rPr sz="1700" b="1" i="0">
                <a:solidFill>
                  <a:srgbClr val="2B2B2B"/>
                </a:solidFill>
                <a:latin typeface="Calibri"/>
              </a:rPr>
              <a:t>Random-ablation baseline</a:t>
            </a:r>
            <a:r>
              <a:rPr sz="1700" b="0" i="0">
                <a:solidFill>
                  <a:srgbClr val="2B2B2B"/>
                </a:solidFill>
                <a:latin typeface="Calibri"/>
              </a:rPr>
              <a:t> — rules out that ablating anything helps, at matched count k. Collision ablation never beats it — it is significantly worse at k = 100.</a:t>
            </a:r>
          </a:p>
          <a:p>
            <a:pPr>
              <a:spcBef>
                <a:spcPts val="0"/>
              </a:spcBef>
              <a:spcAft>
                <a:spcPts val="1300"/>
              </a:spcAft>
            </a:pPr>
            <a:r>
              <a:rPr sz="1700" b="1" i="0">
                <a:solidFill>
                  <a:srgbClr val="2B2B2B"/>
                </a:solidFill>
                <a:latin typeface="Calibri"/>
              </a:rPr>
              <a:t>Self-merge</a:t>
            </a:r>
            <a:r>
              <a:rPr sz="1700" b="0" i="0">
                <a:solidFill>
                  <a:srgbClr val="2B2B2B"/>
                </a:solidFill>
                <a:latin typeface="Calibri"/>
              </a:rPr>
              <a:t> — merge a model with a bit-identical `deepcopy` of itself, not an independently seeded retrain: the maximum-overlap floor. |D| ≤ 0.0035 across all 33 runs.</a:t>
            </a:r>
          </a:p>
          <a:p>
            <a:pPr>
              <a:spcBef>
                <a:spcPts val="0"/>
              </a:spcBef>
              <a:spcAft>
                <a:spcPts val="1300"/>
              </a:spcAft>
            </a:pPr>
            <a:r>
              <a:rPr sz="1700" b="0" i="0">
                <a:solidFill>
                  <a:srgbClr val="2B2B2B"/>
                </a:solidFill>
                <a:latin typeface="Calibri"/>
              </a:rPr>
              <a:t>A fourth control — merged 2n vs. a single parent trained at 2n, to rule out a pure size effect — was planned and never run. It is deferred, not silently dropped; nothing here claims otherwise.</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and depth (25) — the largest single criterion</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Result — the phase diagram</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Damage falls near-monotonically as θ rises. Measured overlap M stays flat the whole way.</a:t>
            </a:r>
          </a:p>
        </p:txBody>
      </p:sp>
      <p:sp>
        <p:nvSpPr>
          <p:cNvPr id="5" name="TextBox 4"/>
          <p:cNvSpPr txBox="1"/>
          <p:nvPr/>
        </p:nvSpPr>
        <p:spPr>
          <a:xfrm>
            <a:off x="777240" y="1691640"/>
            <a:ext cx="10637215" cy="4434840"/>
          </a:xfrm>
          <a:prstGeom prst="rect">
            <a:avLst/>
          </a:prstGeom>
          <a:noFill/>
        </p:spPr>
        <p:txBody>
          <a:bodyPr wrap="square" anchor="t" lIns="0" rIns="0" tIns="0" bIns="0">
            <a:spAutoFit/>
          </a:bodyPr>
          <a:lstStyle/>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(25) + interactive substrate (15)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8</a:t>
            </a:r>
          </a:p>
        </p:txBody>
      </p:sp>
      <p:sp>
        <p:nvSpPr>
          <p:cNvPr id="8" name="Rectangle 7"/>
          <p:cNvSpPr/>
          <p:nvPr/>
        </p:nvSpPr>
        <p:spPr>
          <a:xfrm>
            <a:off x="777240" y="2651760"/>
            <a:ext cx="914400" cy="384048"/>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θ</a:t>
            </a:r>
          </a:p>
        </p:txBody>
      </p:sp>
      <p:sp>
        <p:nvSpPr>
          <p:cNvPr id="9" name="Rectangle 8"/>
          <p:cNvSpPr/>
          <p:nvPr/>
        </p:nvSpPr>
        <p:spPr>
          <a:xfrm>
            <a:off x="1691640" y="2651760"/>
            <a:ext cx="1417320" cy="384048"/>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D concat</a:t>
            </a:r>
          </a:p>
        </p:txBody>
      </p:sp>
      <p:sp>
        <p:nvSpPr>
          <p:cNvPr id="10" name="Rectangle 9"/>
          <p:cNvSpPr/>
          <p:nvPr/>
        </p:nvSpPr>
        <p:spPr>
          <a:xfrm>
            <a:off x="3108960" y="2651760"/>
            <a:ext cx="1417320" cy="384048"/>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D average</a:t>
            </a:r>
          </a:p>
        </p:txBody>
      </p:sp>
      <p:sp>
        <p:nvSpPr>
          <p:cNvPr id="11" name="Rectangle 10"/>
          <p:cNvSpPr/>
          <p:nvPr/>
        </p:nvSpPr>
        <p:spPr>
          <a:xfrm>
            <a:off x="4526280" y="2651760"/>
            <a:ext cx="1417320" cy="384048"/>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i="0">
                <a:solidFill>
                  <a:srgbClr val="FFFFFF"/>
                </a:solidFill>
                <a:latin typeface="Calibri"/>
              </a:rPr>
              <a:t>M</a:t>
            </a:r>
          </a:p>
        </p:txBody>
      </p:sp>
      <p:sp>
        <p:nvSpPr>
          <p:cNvPr id="12" name="Rectangle 11"/>
          <p:cNvSpPr/>
          <p:nvPr/>
        </p:nvSpPr>
        <p:spPr>
          <a:xfrm>
            <a:off x="777240" y="3035808"/>
            <a:ext cx="91440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0.0</a:t>
            </a:r>
          </a:p>
        </p:txBody>
      </p:sp>
      <p:sp>
        <p:nvSpPr>
          <p:cNvPr id="13" name="Rectangle 12"/>
          <p:cNvSpPr/>
          <p:nvPr/>
        </p:nvSpPr>
        <p:spPr>
          <a:xfrm>
            <a:off x="1691640" y="3035808"/>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0.769</a:t>
            </a:r>
          </a:p>
        </p:txBody>
      </p:sp>
      <p:sp>
        <p:nvSpPr>
          <p:cNvPr id="14" name="Rectangle 13"/>
          <p:cNvSpPr/>
          <p:nvPr/>
        </p:nvSpPr>
        <p:spPr>
          <a:xfrm>
            <a:off x="3108960" y="3035808"/>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0.831</a:t>
            </a:r>
          </a:p>
        </p:txBody>
      </p:sp>
      <p:sp>
        <p:nvSpPr>
          <p:cNvPr id="15" name="Rectangle 14"/>
          <p:cNvSpPr/>
          <p:nvPr/>
        </p:nvSpPr>
        <p:spPr>
          <a:xfrm>
            <a:off x="4526280" y="3035808"/>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0.720</a:t>
            </a:r>
          </a:p>
        </p:txBody>
      </p:sp>
      <p:sp>
        <p:nvSpPr>
          <p:cNvPr id="16" name="Rectangle 15"/>
          <p:cNvSpPr/>
          <p:nvPr/>
        </p:nvSpPr>
        <p:spPr>
          <a:xfrm>
            <a:off x="777240" y="3419856"/>
            <a:ext cx="91440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0.2</a:t>
            </a:r>
          </a:p>
        </p:txBody>
      </p:sp>
      <p:sp>
        <p:nvSpPr>
          <p:cNvPr id="17" name="Rectangle 16"/>
          <p:cNvSpPr/>
          <p:nvPr/>
        </p:nvSpPr>
        <p:spPr>
          <a:xfrm>
            <a:off x="1691640" y="3419856"/>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0.638</a:t>
            </a:r>
          </a:p>
        </p:txBody>
      </p:sp>
      <p:sp>
        <p:nvSpPr>
          <p:cNvPr id="18" name="Rectangle 17"/>
          <p:cNvSpPr/>
          <p:nvPr/>
        </p:nvSpPr>
        <p:spPr>
          <a:xfrm>
            <a:off x="3108960" y="3419856"/>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0.746</a:t>
            </a:r>
          </a:p>
        </p:txBody>
      </p:sp>
      <p:sp>
        <p:nvSpPr>
          <p:cNvPr id="19" name="Rectangle 18"/>
          <p:cNvSpPr/>
          <p:nvPr/>
        </p:nvSpPr>
        <p:spPr>
          <a:xfrm>
            <a:off x="4526280" y="3419856"/>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0.704</a:t>
            </a:r>
          </a:p>
        </p:txBody>
      </p:sp>
      <p:sp>
        <p:nvSpPr>
          <p:cNvPr id="20" name="Rectangle 19"/>
          <p:cNvSpPr/>
          <p:nvPr/>
        </p:nvSpPr>
        <p:spPr>
          <a:xfrm>
            <a:off x="777240" y="3803904"/>
            <a:ext cx="91440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0.3</a:t>
            </a:r>
          </a:p>
        </p:txBody>
      </p:sp>
      <p:sp>
        <p:nvSpPr>
          <p:cNvPr id="21" name="Rectangle 20"/>
          <p:cNvSpPr/>
          <p:nvPr/>
        </p:nvSpPr>
        <p:spPr>
          <a:xfrm>
            <a:off x="1691640" y="3803904"/>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0.647</a:t>
            </a:r>
          </a:p>
        </p:txBody>
      </p:sp>
      <p:sp>
        <p:nvSpPr>
          <p:cNvPr id="22" name="Rectangle 21"/>
          <p:cNvSpPr/>
          <p:nvPr/>
        </p:nvSpPr>
        <p:spPr>
          <a:xfrm>
            <a:off x="3108960" y="3803904"/>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0.712</a:t>
            </a:r>
          </a:p>
        </p:txBody>
      </p:sp>
      <p:sp>
        <p:nvSpPr>
          <p:cNvPr id="23" name="Rectangle 22"/>
          <p:cNvSpPr/>
          <p:nvPr/>
        </p:nvSpPr>
        <p:spPr>
          <a:xfrm>
            <a:off x="4526280" y="3803904"/>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0.713</a:t>
            </a:r>
          </a:p>
        </p:txBody>
      </p:sp>
      <p:sp>
        <p:nvSpPr>
          <p:cNvPr id="24" name="Rectangle 23"/>
          <p:cNvSpPr/>
          <p:nvPr/>
        </p:nvSpPr>
        <p:spPr>
          <a:xfrm>
            <a:off x="777240" y="4187952"/>
            <a:ext cx="91440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0.5</a:t>
            </a:r>
          </a:p>
        </p:txBody>
      </p:sp>
      <p:sp>
        <p:nvSpPr>
          <p:cNvPr id="25" name="Rectangle 24"/>
          <p:cNvSpPr/>
          <p:nvPr/>
        </p:nvSpPr>
        <p:spPr>
          <a:xfrm>
            <a:off x="1691640" y="4187952"/>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0.534</a:t>
            </a:r>
          </a:p>
        </p:txBody>
      </p:sp>
      <p:sp>
        <p:nvSpPr>
          <p:cNvPr id="26" name="Rectangle 25"/>
          <p:cNvSpPr/>
          <p:nvPr/>
        </p:nvSpPr>
        <p:spPr>
          <a:xfrm>
            <a:off x="3108960" y="4187952"/>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0.616</a:t>
            </a:r>
          </a:p>
        </p:txBody>
      </p:sp>
      <p:sp>
        <p:nvSpPr>
          <p:cNvPr id="27" name="Rectangle 26"/>
          <p:cNvSpPr/>
          <p:nvPr/>
        </p:nvSpPr>
        <p:spPr>
          <a:xfrm>
            <a:off x="4526280" y="4187952"/>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0.723</a:t>
            </a:r>
          </a:p>
        </p:txBody>
      </p:sp>
      <p:sp>
        <p:nvSpPr>
          <p:cNvPr id="28" name="Rectangle 27"/>
          <p:cNvSpPr/>
          <p:nvPr/>
        </p:nvSpPr>
        <p:spPr>
          <a:xfrm>
            <a:off x="777240" y="4572000"/>
            <a:ext cx="91440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a:t>
            </a:r>
          </a:p>
        </p:txBody>
      </p:sp>
      <p:sp>
        <p:nvSpPr>
          <p:cNvPr id="29" name="Rectangle 28"/>
          <p:cNvSpPr/>
          <p:nvPr/>
        </p:nvSpPr>
        <p:spPr>
          <a:xfrm>
            <a:off x="1691640" y="4572000"/>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0.407</a:t>
            </a:r>
          </a:p>
        </p:txBody>
      </p:sp>
      <p:sp>
        <p:nvSpPr>
          <p:cNvPr id="30" name="Rectangle 29"/>
          <p:cNvSpPr/>
          <p:nvPr/>
        </p:nvSpPr>
        <p:spPr>
          <a:xfrm>
            <a:off x="3108960" y="4572000"/>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0.511</a:t>
            </a:r>
          </a:p>
        </p:txBody>
      </p:sp>
      <p:sp>
        <p:nvSpPr>
          <p:cNvPr id="31" name="Rectangle 30"/>
          <p:cNvSpPr/>
          <p:nvPr/>
        </p:nvSpPr>
        <p:spPr>
          <a:xfrm>
            <a:off x="4526280" y="4572000"/>
            <a:ext cx="1417320" cy="384048"/>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0.728</a:t>
            </a:r>
          </a:p>
        </p:txBody>
      </p:sp>
      <p:sp>
        <p:nvSpPr>
          <p:cNvPr id="32" name="Rectangle 31"/>
          <p:cNvSpPr/>
          <p:nvPr/>
        </p:nvSpPr>
        <p:spPr>
          <a:xfrm>
            <a:off x="777240" y="4956048"/>
            <a:ext cx="91440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1.0</a:t>
            </a:r>
          </a:p>
        </p:txBody>
      </p:sp>
      <p:sp>
        <p:nvSpPr>
          <p:cNvPr id="33" name="Rectangle 32"/>
          <p:cNvSpPr/>
          <p:nvPr/>
        </p:nvSpPr>
        <p:spPr>
          <a:xfrm>
            <a:off x="1691640" y="4956048"/>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0.218</a:t>
            </a:r>
          </a:p>
        </p:txBody>
      </p:sp>
      <p:sp>
        <p:nvSpPr>
          <p:cNvPr id="34" name="Rectangle 33"/>
          <p:cNvSpPr/>
          <p:nvPr/>
        </p:nvSpPr>
        <p:spPr>
          <a:xfrm>
            <a:off x="3108960" y="4956048"/>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0.305</a:t>
            </a:r>
          </a:p>
        </p:txBody>
      </p:sp>
      <p:sp>
        <p:nvSpPr>
          <p:cNvPr id="35" name="Rectangle 34"/>
          <p:cNvSpPr/>
          <p:nvPr/>
        </p:nvSpPr>
        <p:spPr>
          <a:xfrm>
            <a:off x="4526280" y="4956048"/>
            <a:ext cx="1417320" cy="384048"/>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0" i="0">
                <a:solidFill>
                  <a:srgbClr val="2B2B2B"/>
                </a:solidFill>
                <a:latin typeface="Calibri"/>
              </a:rPr>
              <a:t>0.727</a:t>
            </a:r>
          </a:p>
        </p:txBody>
      </p:sp>
      <p:sp>
        <p:nvSpPr>
          <p:cNvPr id="36" name="TextBox 35"/>
          <p:cNvSpPr txBox="1"/>
          <p:nvPr/>
        </p:nvSpPr>
        <p:spPr>
          <a:xfrm>
            <a:off x="6217920" y="2651760"/>
            <a:ext cx="5196535" cy="3566160"/>
          </a:xfrm>
          <a:prstGeom prst="rect">
            <a:avLst/>
          </a:prstGeom>
          <a:noFill/>
        </p:spPr>
        <p:txBody>
          <a:bodyPr wrap="square" anchor="t" lIns="0" rIns="0" tIns="0" bIns="0">
            <a:spAutoFit/>
          </a:bodyPr>
          <a:lstStyle/>
          <a:p>
            <a:pPr>
              <a:spcBef>
                <a:spcPts val="0"/>
              </a:spcBef>
              <a:spcAft>
                <a:spcPts val="900"/>
              </a:spcAft>
            </a:pPr>
            <a:r>
              <a:rPr sz="1300" b="0" i="0">
                <a:solidFill>
                  <a:srgbClr val="2B2B2B"/>
                </a:solidFill>
                <a:latin typeface="Calibri"/>
              </a:rPr>
              <a:t>corr(θ, damage) = </a:t>
            </a:r>
            <a:r>
              <a:rPr sz="1300" b="1" i="0">
                <a:solidFill>
                  <a:srgbClr val="2B2B2B"/>
                </a:solidFill>
                <a:latin typeface="Calibri"/>
              </a:rPr>
              <a:t>−0.991</a:t>
            </a:r>
            <a:r>
              <a:rPr sz="1300" b="0" i="0">
                <a:solidFill>
                  <a:srgbClr val="2B2B2B"/>
                </a:solidFill>
                <a:latin typeface="Calibri"/>
              </a:rPr>
              <a:t> over the 11 per-θ means (</a:t>
            </a:r>
            <a:r>
              <a:rPr sz="1300" b="1" i="0">
                <a:solidFill>
                  <a:srgbClr val="2B2B2B"/>
                </a:solidFill>
                <a:latin typeface="Calibri"/>
              </a:rPr>
              <a:t>−0.790</a:t>
            </a:r>
            <a:r>
              <a:rPr sz="1300" b="0" i="0">
                <a:solidFill>
                  <a:srgbClr val="2B2B2B"/>
                </a:solidFill>
                <a:latin typeface="Calibri"/>
              </a:rPr>
              <a:t> over all 33 runs).</a:t>
            </a:r>
          </a:p>
          <a:p>
            <a:pPr>
              <a:spcBef>
                <a:spcPts val="0"/>
              </a:spcBef>
              <a:spcAft>
                <a:spcPts val="900"/>
              </a:spcAft>
            </a:pPr>
            <a:r>
              <a:rPr sz="1300" b="0" i="0">
                <a:solidFill>
                  <a:srgbClr val="2B2B2B"/>
                </a:solidFill>
                <a:latin typeface="Calibri"/>
              </a:rPr>
              <a:t>corr(M, damage) = </a:t>
            </a:r>
            <a:r>
              <a:rPr sz="1300" b="1" i="0">
                <a:solidFill>
                  <a:srgbClr val="2B2B2B"/>
                </a:solidFill>
                <a:latin typeface="Calibri"/>
              </a:rPr>
              <a:t>−0.608</a:t>
            </a:r>
            <a:r>
              <a:rPr sz="1300" b="0" i="0">
                <a:solidFill>
                  <a:srgbClr val="2B2B2B"/>
                </a:solidFill>
                <a:latin typeface="Calibri"/>
              </a:rPr>
              <a:t> over per-θ means but </a:t>
            </a:r>
            <a:r>
              <a:rPr sz="1300" b="1" i="0">
                <a:solidFill>
                  <a:srgbClr val="2B2B2B"/>
                </a:solidFill>
                <a:latin typeface="Calibri"/>
              </a:rPr>
              <a:t>+0.174</a:t>
            </a:r>
            <a:r>
              <a:rPr sz="1300" b="0" i="0">
                <a:solidFill>
                  <a:srgbClr val="2B2B2B"/>
                </a:solidFill>
                <a:latin typeface="Calibri"/>
              </a:rPr>
              <a:t> over all 33 runs — the sign flips. That is noise on a flat metric, not a relationship.</a:t>
            </a:r>
          </a:p>
          <a:p>
            <a:pPr>
              <a:spcBef>
                <a:spcPts val="0"/>
              </a:spcBef>
              <a:spcAft>
                <a:spcPts val="900"/>
              </a:spcAft>
            </a:pPr>
            <a:r>
              <a:rPr sz="1300" b="0" i="0">
                <a:solidFill>
                  <a:srgbClr val="2B2B2B"/>
                </a:solidFill>
                <a:latin typeface="Calibri"/>
              </a:rPr>
              <a:t>The averaging arm (D average) sits </a:t>
            </a:r>
            <a:r>
              <a:rPr sz="1300" b="1" i="0">
                <a:solidFill>
                  <a:srgbClr val="2B2B2B"/>
                </a:solidFill>
                <a:latin typeface="Calibri"/>
              </a:rPr>
              <a:t>above</a:t>
            </a:r>
            <a:r>
              <a:rPr sz="1300" b="0" i="0">
                <a:solidFill>
                  <a:srgbClr val="2B2B2B"/>
                </a:solidFill>
                <a:latin typeface="Calibri"/>
              </a:rPr>
              <a:t> concat at every θ — worse in 33 of 33 runs — and it is not flat either: it falls with θ too, just from a higher floor.</a:t>
            </a:r>
          </a:p>
          <a:p>
            <a:pPr>
              <a:spcBef>
                <a:spcPts val="0"/>
              </a:spcBef>
              <a:spcAft>
                <a:spcPts val="0"/>
              </a:spcAft>
            </a:pPr>
            <a:r>
              <a:rPr sz="1300" b="1" i="0">
                <a:solidFill>
                  <a:srgbClr val="D97A0B"/>
                </a:solidFill>
                <a:latin typeface="Calibri"/>
              </a:rPr>
              <a:t>Both halves of the original hypothesis are falsified. This is an honest negative result on a question the paper raises but never tests.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Result — locality, retracted</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Ablating the collision set never recovers function — and loses to random ablation at k = 100.</a:t>
            </a:r>
          </a:p>
        </p:txBody>
      </p:sp>
      <p:sp>
        <p:nvSpPr>
          <p:cNvPr id="5" name="TextBox 4"/>
          <p:cNvSpPr txBox="1"/>
          <p:nvPr/>
        </p:nvSpPr>
        <p:spPr>
          <a:xfrm>
            <a:off x="777240" y="1691640"/>
            <a:ext cx="10637215" cy="4434840"/>
          </a:xfrm>
          <a:prstGeom prst="rect">
            <a:avLst/>
          </a:prstGeom>
          <a:noFill/>
        </p:spPr>
        <p:txBody>
          <a:bodyPr wrap="square" anchor="t" lIns="0" rIns="0" tIns="0" bIns="0">
            <a:spAutoFit/>
          </a:bodyPr>
          <a:lstStyle/>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Technical correctness (25) + learning effectiveness (15)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9</a:t>
            </a:r>
          </a:p>
        </p:txBody>
      </p:sp>
      <p:sp>
        <p:nvSpPr>
          <p:cNvPr id="8" name="Rectangle 7"/>
          <p:cNvSpPr/>
          <p:nvPr/>
        </p:nvSpPr>
        <p:spPr>
          <a:xfrm>
            <a:off x="777240" y="2606040"/>
            <a:ext cx="68580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θ</a:t>
            </a:r>
          </a:p>
        </p:txBody>
      </p:sp>
      <p:sp>
        <p:nvSpPr>
          <p:cNvPr id="9" name="Rectangle 8"/>
          <p:cNvSpPr/>
          <p:nvPr/>
        </p:nvSpPr>
        <p:spPr>
          <a:xfrm>
            <a:off x="1463040" y="2606040"/>
            <a:ext cx="59436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k</a:t>
            </a:r>
          </a:p>
        </p:txBody>
      </p:sp>
      <p:sp>
        <p:nvSpPr>
          <p:cNvPr id="10" name="Rectangle 9"/>
          <p:cNvSpPr/>
          <p:nvPr/>
        </p:nvSpPr>
        <p:spPr>
          <a:xfrm>
            <a:off x="2057400" y="2606040"/>
            <a:ext cx="141732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baseline</a:t>
            </a:r>
          </a:p>
        </p:txBody>
      </p:sp>
      <p:sp>
        <p:nvSpPr>
          <p:cNvPr id="11" name="Rectangle 10"/>
          <p:cNvSpPr/>
          <p:nvPr/>
        </p:nvSpPr>
        <p:spPr>
          <a:xfrm>
            <a:off x="3474720" y="2606040"/>
            <a:ext cx="141732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collision</a:t>
            </a:r>
          </a:p>
        </p:txBody>
      </p:sp>
      <p:sp>
        <p:nvSpPr>
          <p:cNvPr id="12" name="Rectangle 11"/>
          <p:cNvSpPr/>
          <p:nvPr/>
        </p:nvSpPr>
        <p:spPr>
          <a:xfrm>
            <a:off x="4892040" y="2606040"/>
            <a:ext cx="141732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random</a:t>
            </a:r>
          </a:p>
        </p:txBody>
      </p:sp>
      <p:sp>
        <p:nvSpPr>
          <p:cNvPr id="13" name="Rectangle 12"/>
          <p:cNvSpPr/>
          <p:nvPr/>
        </p:nvSpPr>
        <p:spPr>
          <a:xfrm>
            <a:off x="6309359" y="2606040"/>
            <a:ext cx="2377440" cy="365760"/>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FFFFFF"/>
                </a:solidFill>
                <a:latin typeface="Calibri"/>
              </a:rPr>
              <a:t>random − collision</a:t>
            </a:r>
          </a:p>
        </p:txBody>
      </p:sp>
      <p:sp>
        <p:nvSpPr>
          <p:cNvPr id="14" name="Rectangle 13"/>
          <p:cNvSpPr/>
          <p:nvPr/>
        </p:nvSpPr>
        <p:spPr>
          <a:xfrm>
            <a:off x="777240" y="2971800"/>
            <a:ext cx="68580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0.0</a:t>
            </a:r>
          </a:p>
        </p:txBody>
      </p:sp>
      <p:sp>
        <p:nvSpPr>
          <p:cNvPr id="15" name="Rectangle 14"/>
          <p:cNvSpPr/>
          <p:nvPr/>
        </p:nvSpPr>
        <p:spPr>
          <a:xfrm>
            <a:off x="1463040" y="2971800"/>
            <a:ext cx="59436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40</a:t>
            </a:r>
          </a:p>
        </p:txBody>
      </p:sp>
      <p:sp>
        <p:nvSpPr>
          <p:cNvPr id="16" name="Rectangle 15"/>
          <p:cNvSpPr/>
          <p:nvPr/>
        </p:nvSpPr>
        <p:spPr>
          <a:xfrm>
            <a:off x="2057400" y="297180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1.5881</a:t>
            </a:r>
          </a:p>
        </p:txBody>
      </p:sp>
      <p:sp>
        <p:nvSpPr>
          <p:cNvPr id="17" name="Rectangle 16"/>
          <p:cNvSpPr/>
          <p:nvPr/>
        </p:nvSpPr>
        <p:spPr>
          <a:xfrm>
            <a:off x="3474720" y="297180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1.5871</a:t>
            </a:r>
          </a:p>
        </p:txBody>
      </p:sp>
      <p:sp>
        <p:nvSpPr>
          <p:cNvPr id="18" name="Rectangle 17"/>
          <p:cNvSpPr/>
          <p:nvPr/>
        </p:nvSpPr>
        <p:spPr>
          <a:xfrm>
            <a:off x="4892040" y="297180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1.5886</a:t>
            </a:r>
          </a:p>
        </p:txBody>
      </p:sp>
      <p:sp>
        <p:nvSpPr>
          <p:cNvPr id="19" name="Rectangle 18"/>
          <p:cNvSpPr/>
          <p:nvPr/>
        </p:nvSpPr>
        <p:spPr>
          <a:xfrm>
            <a:off x="6309359" y="2971800"/>
            <a:ext cx="237744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2B2B2B"/>
                </a:solidFill>
                <a:latin typeface="Calibri"/>
              </a:rPr>
              <a:t>+0.0014</a:t>
            </a:r>
          </a:p>
        </p:txBody>
      </p:sp>
      <p:sp>
        <p:nvSpPr>
          <p:cNvPr id="20" name="Rectangle 19"/>
          <p:cNvSpPr/>
          <p:nvPr/>
        </p:nvSpPr>
        <p:spPr>
          <a:xfrm>
            <a:off x="777240" y="3337560"/>
            <a:ext cx="68580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0.5</a:t>
            </a:r>
          </a:p>
        </p:txBody>
      </p:sp>
      <p:sp>
        <p:nvSpPr>
          <p:cNvPr id="21" name="Rectangle 20"/>
          <p:cNvSpPr/>
          <p:nvPr/>
        </p:nvSpPr>
        <p:spPr>
          <a:xfrm>
            <a:off x="1463040" y="3337560"/>
            <a:ext cx="59436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40</a:t>
            </a:r>
          </a:p>
        </p:txBody>
      </p:sp>
      <p:sp>
        <p:nvSpPr>
          <p:cNvPr id="22" name="Rectangle 21"/>
          <p:cNvSpPr/>
          <p:nvPr/>
        </p:nvSpPr>
        <p:spPr>
          <a:xfrm>
            <a:off x="2057400" y="333756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2.0186</a:t>
            </a:r>
          </a:p>
        </p:txBody>
      </p:sp>
      <p:sp>
        <p:nvSpPr>
          <p:cNvPr id="23" name="Rectangle 22"/>
          <p:cNvSpPr/>
          <p:nvPr/>
        </p:nvSpPr>
        <p:spPr>
          <a:xfrm>
            <a:off x="3474720" y="333756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2.0212</a:t>
            </a:r>
          </a:p>
        </p:txBody>
      </p:sp>
      <p:sp>
        <p:nvSpPr>
          <p:cNvPr id="24" name="Rectangle 23"/>
          <p:cNvSpPr/>
          <p:nvPr/>
        </p:nvSpPr>
        <p:spPr>
          <a:xfrm>
            <a:off x="4892040" y="333756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1.9999</a:t>
            </a:r>
          </a:p>
        </p:txBody>
      </p:sp>
      <p:sp>
        <p:nvSpPr>
          <p:cNvPr id="25" name="Rectangle 24"/>
          <p:cNvSpPr/>
          <p:nvPr/>
        </p:nvSpPr>
        <p:spPr>
          <a:xfrm>
            <a:off x="6309359" y="3337560"/>
            <a:ext cx="237744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D97A0B"/>
                </a:solidFill>
                <a:latin typeface="Calibri"/>
              </a:rPr>
              <a:t>−0.0213 (shipped default)</a:t>
            </a:r>
          </a:p>
        </p:txBody>
      </p:sp>
      <p:sp>
        <p:nvSpPr>
          <p:cNvPr id="26" name="Rectangle 25"/>
          <p:cNvSpPr/>
          <p:nvPr/>
        </p:nvSpPr>
        <p:spPr>
          <a:xfrm>
            <a:off x="777240" y="3703320"/>
            <a:ext cx="68580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1.0</a:t>
            </a:r>
          </a:p>
        </p:txBody>
      </p:sp>
      <p:sp>
        <p:nvSpPr>
          <p:cNvPr id="27" name="Rectangle 26"/>
          <p:cNvSpPr/>
          <p:nvPr/>
        </p:nvSpPr>
        <p:spPr>
          <a:xfrm>
            <a:off x="1463040" y="3703320"/>
            <a:ext cx="59436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40</a:t>
            </a:r>
          </a:p>
        </p:txBody>
      </p:sp>
      <p:sp>
        <p:nvSpPr>
          <p:cNvPr id="28" name="Rectangle 27"/>
          <p:cNvSpPr/>
          <p:nvPr/>
        </p:nvSpPr>
        <p:spPr>
          <a:xfrm>
            <a:off x="2057400" y="370332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1.9841</a:t>
            </a:r>
          </a:p>
        </p:txBody>
      </p:sp>
      <p:sp>
        <p:nvSpPr>
          <p:cNvPr id="29" name="Rectangle 28"/>
          <p:cNvSpPr/>
          <p:nvPr/>
        </p:nvSpPr>
        <p:spPr>
          <a:xfrm>
            <a:off x="3474720" y="370332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1.9899</a:t>
            </a:r>
          </a:p>
        </p:txBody>
      </p:sp>
      <p:sp>
        <p:nvSpPr>
          <p:cNvPr id="30" name="Rectangle 29"/>
          <p:cNvSpPr/>
          <p:nvPr/>
        </p:nvSpPr>
        <p:spPr>
          <a:xfrm>
            <a:off x="4892040" y="370332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1.9797</a:t>
            </a:r>
          </a:p>
        </p:txBody>
      </p:sp>
      <p:sp>
        <p:nvSpPr>
          <p:cNvPr id="31" name="Rectangle 30"/>
          <p:cNvSpPr/>
          <p:nvPr/>
        </p:nvSpPr>
        <p:spPr>
          <a:xfrm>
            <a:off x="6309359" y="3703320"/>
            <a:ext cx="237744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D97A0B"/>
                </a:solidFill>
                <a:latin typeface="Calibri"/>
              </a:rPr>
              <a:t>−0.0102</a:t>
            </a:r>
          </a:p>
        </p:txBody>
      </p:sp>
      <p:sp>
        <p:nvSpPr>
          <p:cNvPr id="32" name="Rectangle 31"/>
          <p:cNvSpPr/>
          <p:nvPr/>
        </p:nvSpPr>
        <p:spPr>
          <a:xfrm>
            <a:off x="777240" y="4069080"/>
            <a:ext cx="68580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0.0</a:t>
            </a:r>
          </a:p>
        </p:txBody>
      </p:sp>
      <p:sp>
        <p:nvSpPr>
          <p:cNvPr id="33" name="Rectangle 32"/>
          <p:cNvSpPr/>
          <p:nvPr/>
        </p:nvSpPr>
        <p:spPr>
          <a:xfrm>
            <a:off x="1463040" y="4069080"/>
            <a:ext cx="59436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100</a:t>
            </a:r>
          </a:p>
        </p:txBody>
      </p:sp>
      <p:sp>
        <p:nvSpPr>
          <p:cNvPr id="34" name="Rectangle 33"/>
          <p:cNvSpPr/>
          <p:nvPr/>
        </p:nvSpPr>
        <p:spPr>
          <a:xfrm>
            <a:off x="2057400" y="406908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1.5881</a:t>
            </a:r>
          </a:p>
        </p:txBody>
      </p:sp>
      <p:sp>
        <p:nvSpPr>
          <p:cNvPr id="35" name="Rectangle 34"/>
          <p:cNvSpPr/>
          <p:nvPr/>
        </p:nvSpPr>
        <p:spPr>
          <a:xfrm>
            <a:off x="3474720" y="406908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1.6488</a:t>
            </a:r>
          </a:p>
        </p:txBody>
      </p:sp>
      <p:sp>
        <p:nvSpPr>
          <p:cNvPr id="36" name="Rectangle 35"/>
          <p:cNvSpPr/>
          <p:nvPr/>
        </p:nvSpPr>
        <p:spPr>
          <a:xfrm>
            <a:off x="4892040" y="406908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1.5951</a:t>
            </a:r>
          </a:p>
        </p:txBody>
      </p:sp>
      <p:sp>
        <p:nvSpPr>
          <p:cNvPr id="37" name="Rectangle 36"/>
          <p:cNvSpPr/>
          <p:nvPr/>
        </p:nvSpPr>
        <p:spPr>
          <a:xfrm>
            <a:off x="6309359" y="4069080"/>
            <a:ext cx="237744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D97A0B"/>
                </a:solidFill>
                <a:latin typeface="Calibri"/>
              </a:rPr>
              <a:t>−0.0536</a:t>
            </a:r>
          </a:p>
        </p:txBody>
      </p:sp>
      <p:sp>
        <p:nvSpPr>
          <p:cNvPr id="38" name="Rectangle 37"/>
          <p:cNvSpPr/>
          <p:nvPr/>
        </p:nvSpPr>
        <p:spPr>
          <a:xfrm>
            <a:off x="777240" y="4434840"/>
            <a:ext cx="68580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0.5</a:t>
            </a:r>
          </a:p>
        </p:txBody>
      </p:sp>
      <p:sp>
        <p:nvSpPr>
          <p:cNvPr id="39" name="Rectangle 38"/>
          <p:cNvSpPr/>
          <p:nvPr/>
        </p:nvSpPr>
        <p:spPr>
          <a:xfrm>
            <a:off x="1463040" y="4434840"/>
            <a:ext cx="59436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100</a:t>
            </a:r>
          </a:p>
        </p:txBody>
      </p:sp>
      <p:sp>
        <p:nvSpPr>
          <p:cNvPr id="40" name="Rectangle 39"/>
          <p:cNvSpPr/>
          <p:nvPr/>
        </p:nvSpPr>
        <p:spPr>
          <a:xfrm>
            <a:off x="2057400" y="443484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2.0186</a:t>
            </a:r>
          </a:p>
        </p:txBody>
      </p:sp>
      <p:sp>
        <p:nvSpPr>
          <p:cNvPr id="41" name="Rectangle 40"/>
          <p:cNvSpPr/>
          <p:nvPr/>
        </p:nvSpPr>
        <p:spPr>
          <a:xfrm>
            <a:off x="3474720" y="443484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2.0894</a:t>
            </a:r>
          </a:p>
        </p:txBody>
      </p:sp>
      <p:sp>
        <p:nvSpPr>
          <p:cNvPr id="42" name="Rectangle 41"/>
          <p:cNvSpPr/>
          <p:nvPr/>
        </p:nvSpPr>
        <p:spPr>
          <a:xfrm>
            <a:off x="4892040" y="4434840"/>
            <a:ext cx="141732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1.9756</a:t>
            </a:r>
          </a:p>
        </p:txBody>
      </p:sp>
      <p:sp>
        <p:nvSpPr>
          <p:cNvPr id="43" name="Rectangle 42"/>
          <p:cNvSpPr/>
          <p:nvPr/>
        </p:nvSpPr>
        <p:spPr>
          <a:xfrm>
            <a:off x="6309359" y="4434840"/>
            <a:ext cx="2377440" cy="365760"/>
          </a:xfrm>
          <a:prstGeom prst="rect">
            <a:avLst/>
          </a:prstGeom>
          <a:solidFill>
            <a:srgbClr val="F4F7FB"/>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D97A0B"/>
                </a:solidFill>
                <a:latin typeface="Calibri"/>
              </a:rPr>
              <a:t>−0.1138</a:t>
            </a:r>
          </a:p>
        </p:txBody>
      </p:sp>
      <p:sp>
        <p:nvSpPr>
          <p:cNvPr id="44" name="Rectangle 43"/>
          <p:cNvSpPr/>
          <p:nvPr/>
        </p:nvSpPr>
        <p:spPr>
          <a:xfrm>
            <a:off x="777240" y="4800600"/>
            <a:ext cx="68580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1.0</a:t>
            </a:r>
          </a:p>
        </p:txBody>
      </p:sp>
      <p:sp>
        <p:nvSpPr>
          <p:cNvPr id="45" name="Rectangle 44"/>
          <p:cNvSpPr/>
          <p:nvPr/>
        </p:nvSpPr>
        <p:spPr>
          <a:xfrm>
            <a:off x="1463040" y="4800600"/>
            <a:ext cx="59436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100</a:t>
            </a:r>
          </a:p>
        </p:txBody>
      </p:sp>
      <p:sp>
        <p:nvSpPr>
          <p:cNvPr id="46" name="Rectangle 45"/>
          <p:cNvSpPr/>
          <p:nvPr/>
        </p:nvSpPr>
        <p:spPr>
          <a:xfrm>
            <a:off x="2057400" y="480060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1.9841</a:t>
            </a:r>
          </a:p>
        </p:txBody>
      </p:sp>
      <p:sp>
        <p:nvSpPr>
          <p:cNvPr id="47" name="Rectangle 46"/>
          <p:cNvSpPr/>
          <p:nvPr/>
        </p:nvSpPr>
        <p:spPr>
          <a:xfrm>
            <a:off x="3474720" y="480060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2.1158</a:t>
            </a:r>
          </a:p>
        </p:txBody>
      </p:sp>
      <p:sp>
        <p:nvSpPr>
          <p:cNvPr id="48" name="Rectangle 47"/>
          <p:cNvSpPr/>
          <p:nvPr/>
        </p:nvSpPr>
        <p:spPr>
          <a:xfrm>
            <a:off x="4892040" y="4800600"/>
            <a:ext cx="141732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0" i="0">
                <a:solidFill>
                  <a:srgbClr val="2B2B2B"/>
                </a:solidFill>
                <a:latin typeface="Calibri"/>
              </a:rPr>
              <a:t>1.9777</a:t>
            </a:r>
          </a:p>
        </p:txBody>
      </p:sp>
      <p:sp>
        <p:nvSpPr>
          <p:cNvPr id="49" name="Rectangle 48"/>
          <p:cNvSpPr/>
          <p:nvPr/>
        </p:nvSpPr>
        <p:spPr>
          <a:xfrm>
            <a:off x="6309359" y="4800600"/>
            <a:ext cx="2377440" cy="365760"/>
          </a:xfrm>
          <a:prstGeom prst="rect">
            <a:avLst/>
          </a:prstGeom>
          <a:solidFill>
            <a:srgbClr val="FFFFFF"/>
          </a:solidFill>
          <a:ln w="9525">
            <a:solidFill>
              <a:srgbClr val="D8DEE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i="0">
                <a:solidFill>
                  <a:srgbClr val="D97A0B"/>
                </a:solidFill>
                <a:latin typeface="Calibri"/>
              </a:rPr>
              <a:t>−0.1381</a:t>
            </a:r>
          </a:p>
        </p:txBody>
      </p:sp>
      <p:sp>
        <p:nvSpPr>
          <p:cNvPr id="50" name="TextBox 49"/>
          <p:cNvSpPr txBox="1"/>
          <p:nvPr/>
        </p:nvSpPr>
        <p:spPr>
          <a:xfrm>
            <a:off x="777240" y="5349240"/>
            <a:ext cx="10637215" cy="914400"/>
          </a:xfrm>
          <a:prstGeom prst="rect">
            <a:avLst/>
          </a:prstGeom>
          <a:noFill/>
        </p:spPr>
        <p:txBody>
          <a:bodyPr wrap="square" anchor="t" lIns="0" rIns="0" tIns="0" bIns="0">
            <a:spAutoFit/>
          </a:bodyPr>
          <a:lstStyle/>
          <a:p>
            <a:pPr>
              <a:spcBef>
                <a:spcPts val="0"/>
              </a:spcBef>
              <a:spcAft>
                <a:spcPts val="600"/>
              </a:spcAft>
            </a:pPr>
            <a:r>
              <a:rPr sz="1300" b="0" i="0">
                <a:solidFill>
                  <a:srgbClr val="2B2B2B"/>
                </a:solidFill>
                <a:latin typeface="Calibri"/>
              </a:rPr>
              <a:t>Collision-ablated loss is at or above baseline in five of six cells; the one cell below (θ = 0, k = 40) is inside the random control’s own spread (SD ≈ 0.011–0.018). At k = 100, collision is worse than random at every θ.</a:t>
            </a:r>
          </a:p>
          <a:p>
            <a:pPr>
              <a:spcBef>
                <a:spcPts val="0"/>
              </a:spcBef>
              <a:spcAft>
                <a:spcPts val="0"/>
              </a:spcAft>
            </a:pPr>
            <a:r>
              <a:rPr sz="1300" b="1" i="0">
                <a:solidFill>
                  <a:srgbClr val="D97A0B"/>
                </a:solidFill>
                <a:latin typeface="Calibri"/>
              </a:rPr>
              <a:t>Damage does not localize to the neurons this collision score identifies — the phase diagram result stands on its own regardless.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What is live, what is not</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Everything on screen is labelled: live, precomputed, or illustration.</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700" b="1" i="0">
                <a:solidFill>
                  <a:srgbClr val="2B2B2B"/>
                </a:solidFill>
                <a:latin typeface="Calibri"/>
              </a:rPr>
              <a:t>LIVE</a:t>
            </a:r>
            <a:r>
              <a:rPr sz="1700" b="0" i="0">
                <a:solidFill>
                  <a:srgbClr val="2B2B2B"/>
                </a:solidFill>
                <a:latin typeface="Calibri"/>
              </a:rPr>
              <a:t> — the forward pass, both merge operations, neuron ablation.</a:t>
            </a:r>
          </a:p>
          <a:p>
            <a:pPr>
              <a:spcBef>
                <a:spcPts val="0"/>
              </a:spcBef>
              <a:spcAft>
                <a:spcPts val="1300"/>
              </a:spcAft>
            </a:pPr>
            <a:r>
              <a:rPr sz="1700" b="1" i="0">
                <a:solidFill>
                  <a:srgbClr val="2B2B2B"/>
                </a:solidFill>
                <a:latin typeface="Calibri"/>
              </a:rPr>
              <a:t>PRECOMPUTED</a:t>
            </a:r>
            <a:r>
              <a:rPr sz="1700" b="0" i="0">
                <a:solidFill>
                  <a:srgbClr val="2B2B2B"/>
                </a:solidFill>
                <a:latin typeface="Calibri"/>
              </a:rPr>
              <a:t> — the 66-model sweep and the parent weights. Sixty-six models cannot train in a browser.</a:t>
            </a:r>
          </a:p>
          <a:p>
            <a:pPr>
              <a:spcBef>
                <a:spcPts val="0"/>
              </a:spcBef>
              <a:spcAft>
                <a:spcPts val="1300"/>
              </a:spcAft>
            </a:pPr>
            <a:r>
              <a:rPr sz="1700" b="1" i="0">
                <a:solidFill>
                  <a:srgbClr val="2B2B2B"/>
                </a:solidFill>
                <a:latin typeface="Calibri"/>
              </a:rPr>
              <a:t>ILLUSTRATION</a:t>
            </a:r>
            <a:r>
              <a:rPr sz="1700" b="0" i="0">
                <a:solidFill>
                  <a:srgbClr val="2B2B2B"/>
                </a:solidFill>
                <a:latin typeface="Calibri"/>
              </a:rPr>
              <a:t> — only the opening explanatory diagram, and it says so on screen.</a:t>
            </a:r>
          </a:p>
          <a:p>
            <a:pPr>
              <a:spcBef>
                <a:spcPts val="0"/>
              </a:spcBef>
              <a:spcAft>
                <a:spcPts val="1300"/>
              </a:spcAft>
            </a:pPr>
            <a:r>
              <a:rPr sz="1700" b="1" i="0">
                <a:solidFill>
                  <a:srgbClr val="2B2B2B"/>
                </a:solidFill>
                <a:latin typeface="Calibri"/>
              </a:rPr>
              <a:t>Stated caps</a:t>
            </a:r>
            <a:r>
              <a:rPr sz="1700" b="0" i="0">
                <a:solidFill>
                  <a:srgbClr val="2B2B2B"/>
                </a:solidFill>
                <a:latin typeface="Calibri"/>
              </a:rPr>
              <a:t> — n capped at 1024 per parent (2048 merged), sequence length capped at 16. No hidden limits.</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Interactive substrate and honesty (15)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Limits and evidence discipline</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What this does not show.</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700" b="1" i="0">
                <a:solidFill>
                  <a:srgbClr val="2B2B2B"/>
                </a:solidFill>
                <a:latin typeface="Calibri"/>
              </a:rPr>
              <a:t>Toy scale: ~1M parameters.</a:t>
            </a:r>
            <a:r>
              <a:rPr sz="1700" b="0" i="0">
                <a:solidFill>
                  <a:srgbClr val="2B2B2B"/>
                </a:solidFill>
                <a:latin typeface="Calibri"/>
              </a:rPr>
              <a:t> This does not speak for the paper's reported </a:t>
            </a:r>
            <a:r>
              <a:rPr sz="1700" b="1" i="0">
                <a:solidFill>
                  <a:srgbClr val="2B2B2B"/>
                </a:solidFill>
                <a:latin typeface="Calibri"/>
              </a:rPr>
              <a:t>10M–1B</a:t>
            </a:r>
            <a:r>
              <a:rPr sz="1700" b="0" i="0">
                <a:solidFill>
                  <a:srgbClr val="2B2B2B"/>
                </a:solidFill>
                <a:latin typeface="Calibri"/>
              </a:rPr>
              <a:t> pretraining runs.</a:t>
            </a:r>
          </a:p>
          <a:p>
            <a:pPr>
              <a:spcBef>
                <a:spcPts val="0"/>
              </a:spcBef>
              <a:spcAft>
                <a:spcPts val="1300"/>
              </a:spcAft>
            </a:pPr>
            <a:r>
              <a:rPr sz="1700" b="0" i="0">
                <a:solidFill>
                  <a:srgbClr val="2B2B2B"/>
                </a:solidFill>
                <a:latin typeface="Calibri"/>
              </a:rPr>
              <a:t>Our reimplementation is </a:t>
            </a:r>
            <a:r>
              <a:rPr sz="1700" b="1" i="0">
                <a:solidFill>
                  <a:srgbClr val="2B2B2B"/>
                </a:solidFill>
                <a:latin typeface="Calibri"/>
              </a:rPr>
              <a:t>labelled as such</a:t>
            </a:r>
            <a:r>
              <a:rPr sz="1700" b="0" i="0">
                <a:solidFill>
                  <a:srgbClr val="2B2B2B"/>
                </a:solidFill>
                <a:latin typeface="Calibri"/>
              </a:rPr>
              <a:t> and is not an official BDH model.</a:t>
            </a:r>
          </a:p>
          <a:p>
            <a:pPr>
              <a:spcBef>
                <a:spcPts val="0"/>
              </a:spcBef>
              <a:spcAft>
                <a:spcPts val="1300"/>
              </a:spcAft>
            </a:pPr>
            <a:r>
              <a:rPr sz="1700" b="0" i="0">
                <a:solidFill>
                  <a:srgbClr val="2B2B2B"/>
                </a:solidFill>
                <a:latin typeface="Calibri"/>
              </a:rPr>
              <a:t>The paper's Table 2 is </a:t>
            </a:r>
            <a:r>
              <a:rPr sz="1700" b="1" i="0">
                <a:solidFill>
                  <a:srgbClr val="2B2B2B"/>
                </a:solidFill>
                <a:latin typeface="Calibri"/>
              </a:rPr>
              <a:t>their</a:t>
            </a:r>
            <a:r>
              <a:rPr sz="1700" b="0" i="0">
                <a:solidFill>
                  <a:srgbClr val="2B2B2B"/>
                </a:solidFill>
                <a:latin typeface="Calibri"/>
              </a:rPr>
              <a:t> result at </a:t>
            </a:r>
            <a:r>
              <a:rPr sz="1700" b="1" i="0">
                <a:solidFill>
                  <a:srgbClr val="2B2B2B"/>
                </a:solidFill>
                <a:latin typeface="Calibri"/>
              </a:rPr>
              <a:t>their</a:t>
            </a:r>
            <a:r>
              <a:rPr sz="1700" b="0" i="0">
                <a:solidFill>
                  <a:srgbClr val="2B2B2B"/>
                </a:solidFill>
                <a:latin typeface="Calibri"/>
              </a:rPr>
              <a:t> scale — cited, not reproduced by us.</a:t>
            </a:r>
          </a:p>
          <a:p>
            <a:pPr>
              <a:spcBef>
                <a:spcPts val="0"/>
              </a:spcBef>
              <a:spcAft>
                <a:spcPts val="1300"/>
              </a:spcAft>
            </a:pPr>
            <a:r>
              <a:rPr sz="1700" b="0" i="0">
                <a:solidFill>
                  <a:srgbClr val="2B2B2B"/>
                </a:solidFill>
                <a:latin typeface="Calibri"/>
              </a:rPr>
              <a:t>We measured a directional difference in damage between the two target languages (θ = 1: 0.344 vs. 0.091), but it is </a:t>
            </a:r>
            <a:r>
              <a:rPr sz="1700" b="1" i="0">
                <a:solidFill>
                  <a:srgbClr val="2B2B2B"/>
                </a:solidFill>
                <a:latin typeface="Calibri"/>
              </a:rPr>
              <a:t>not</a:t>
            </a:r>
            <a:r>
              <a:rPr sz="1700" b="0" i="0">
                <a:solidFill>
                  <a:srgbClr val="2B2B2B"/>
                </a:solidFill>
                <a:latin typeface="Calibri"/>
              </a:rPr>
              <a:t> the paper's into/out-of-pivot asymmetry — both our eval directions run pivot→target, and the effect is seed-0-dominated. We retract our earlier description of it as a reproduction.</a:t>
            </a:r>
          </a:p>
          <a:p>
            <a:pPr>
              <a:spcBef>
                <a:spcPts val="0"/>
              </a:spcBef>
              <a:spcAft>
                <a:spcPts val="1300"/>
              </a:spcAft>
            </a:pPr>
            <a:r>
              <a:rPr sz="1700" b="1" i="0">
                <a:solidFill>
                  <a:srgbClr val="2B2B2B"/>
                </a:solidFill>
                <a:latin typeface="Calibri"/>
              </a:rPr>
              <a:t>The most important open question we could not answer:</a:t>
            </a:r>
            <a:r>
              <a:rPr sz="1700" b="0" i="0">
                <a:solidFill>
                  <a:srgbClr val="2B2B2B"/>
                </a:solidFill>
                <a:latin typeface="Calibri"/>
              </a:rPr>
              <a:t> whether representational overlap is genuinely non-predictive of mergeability, or whether our mean-over-all-neurons metric — M and the collision score alike — is mis-specified for this architecture.</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BDH integration and evidence discipline (10) + technical correctness (25)</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77240" y="566928"/>
            <a:ext cx="10637215" cy="822960"/>
          </a:xfrm>
          <a:prstGeom prst="rect">
            <a:avLst/>
          </a:prstGeom>
          <a:noFill/>
        </p:spPr>
        <p:txBody>
          <a:bodyPr wrap="square" anchor="t" lIns="0" rIns="0" tIns="0" bIns="0">
            <a:spAutoFit/>
          </a:bodyPr>
          <a:lstStyle/>
          <a:p>
            <a:pPr>
              <a:spcBef>
                <a:spcPts val="0"/>
              </a:spcBef>
              <a:spcAft>
                <a:spcPts val="0"/>
              </a:spcAft>
            </a:pPr>
            <a:r>
              <a:rPr sz="3000" b="1" i="0">
                <a:solidFill>
                  <a:srgbClr val="0F1E3D"/>
                </a:solidFill>
                <a:latin typeface="Calibri"/>
              </a:rPr>
              <a:t>The learning journey</a:t>
            </a:r>
          </a:p>
        </p:txBody>
      </p:sp>
      <p:sp>
        <p:nvSpPr>
          <p:cNvPr id="3" name="Rectangle 2"/>
          <p:cNvSpPr/>
          <p:nvPr/>
        </p:nvSpPr>
        <p:spPr>
          <a:xfrm>
            <a:off x="777240" y="1417320"/>
            <a:ext cx="1371600" cy="32004"/>
          </a:xfrm>
          <a:prstGeom prst="rect">
            <a:avLst/>
          </a:prstGeom>
          <a:solidFill>
            <a:srgbClr val="2F6F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572768"/>
            <a:ext cx="10637215" cy="457200"/>
          </a:xfrm>
          <a:prstGeom prst="rect">
            <a:avLst/>
          </a:prstGeom>
          <a:noFill/>
        </p:spPr>
        <p:txBody>
          <a:bodyPr wrap="square" anchor="t" lIns="0" rIns="0" tIns="0" bIns="0">
            <a:spAutoFit/>
          </a:bodyPr>
          <a:lstStyle/>
          <a:p>
            <a:pPr>
              <a:spcBef>
                <a:spcPts val="0"/>
              </a:spcBef>
              <a:spcAft>
                <a:spcPts val="0"/>
              </a:spcAft>
            </a:pPr>
            <a:r>
              <a:rPr sz="1550" b="0" i="0">
                <a:solidFill>
                  <a:srgbClr val="2F6FED"/>
                </a:solidFill>
                <a:latin typeface="Calibri"/>
              </a:rPr>
              <a:t>Four acts. Sixty seconds to the first real understanding.</a:t>
            </a:r>
          </a:p>
        </p:txBody>
      </p:sp>
      <p:sp>
        <p:nvSpPr>
          <p:cNvPr id="5" name="TextBox 4"/>
          <p:cNvSpPr txBox="1"/>
          <p:nvPr/>
        </p:nvSpPr>
        <p:spPr>
          <a:xfrm>
            <a:off x="777240" y="1965960"/>
            <a:ext cx="10637215" cy="4160520"/>
          </a:xfrm>
          <a:prstGeom prst="rect">
            <a:avLst/>
          </a:prstGeom>
          <a:noFill/>
        </p:spPr>
        <p:txBody>
          <a:bodyPr wrap="square" anchor="t" lIns="0" rIns="0" tIns="0" bIns="0">
            <a:spAutoFit/>
          </a:bodyPr>
          <a:lstStyle/>
          <a:p>
            <a:pPr>
              <a:spcBef>
                <a:spcPts val="0"/>
              </a:spcBef>
              <a:spcAft>
                <a:spcPts val="1300"/>
              </a:spcAft>
            </a:pPr>
            <a:r>
              <a:rPr sz="1550" b="1" i="0">
                <a:solidFill>
                  <a:srgbClr val="2B2B2B"/>
                </a:solidFill>
                <a:latin typeface="Calibri"/>
              </a:rPr>
              <a:t>Act 1</a:t>
            </a:r>
            <a:r>
              <a:rPr sz="1550" b="0" i="0">
                <a:solidFill>
                  <a:srgbClr val="2B2B2B"/>
                </a:solidFill>
                <a:latin typeface="Calibri"/>
              </a:rPr>
              <a:t> fuse  →  </a:t>
            </a:r>
            <a:r>
              <a:rPr sz="1550" b="1" i="0">
                <a:solidFill>
                  <a:srgbClr val="2B2B2B"/>
                </a:solidFill>
                <a:latin typeface="Calibri"/>
              </a:rPr>
              <a:t>Act 2</a:t>
            </a:r>
            <a:r>
              <a:rPr sz="1550" b="0" i="0">
                <a:solidFill>
                  <a:srgbClr val="2B2B2B"/>
                </a:solidFill>
                <a:latin typeface="Calibri"/>
              </a:rPr>
              <a:t> concat vs average  →  </a:t>
            </a:r>
            <a:r>
              <a:rPr sz="1550" b="1" i="0">
                <a:solidFill>
                  <a:srgbClr val="2B2B2B"/>
                </a:solidFill>
                <a:latin typeface="Calibri"/>
              </a:rPr>
              <a:t>Act 3</a:t>
            </a:r>
            <a:r>
              <a:rPr sz="1550" b="0" i="0">
                <a:solidFill>
                  <a:srgbClr val="2B2B2B"/>
                </a:solidFill>
                <a:latin typeface="Calibri"/>
              </a:rPr>
              <a:t> drag the phase diagram  →  </a:t>
            </a:r>
            <a:r>
              <a:rPr sz="1550" b="1" i="0">
                <a:solidFill>
                  <a:srgbClr val="2B2B2B"/>
                </a:solidFill>
                <a:latin typeface="Calibri"/>
              </a:rPr>
              <a:t>Act 4</a:t>
            </a:r>
            <a:r>
              <a:rPr sz="1550" b="0" i="0">
                <a:solidFill>
                  <a:srgbClr val="2B2B2B"/>
                </a:solidFill>
                <a:latin typeface="Calibri"/>
              </a:rPr>
              <a:t> surgery</a:t>
            </a:r>
          </a:p>
          <a:p>
            <a:pPr>
              <a:spcBef>
                <a:spcPts val="0"/>
              </a:spcBef>
              <a:spcAft>
                <a:spcPts val="1300"/>
              </a:spcAft>
            </a:pPr>
            <a:r>
              <a:rPr sz="1550" b="1" i="0">
                <a:solidFill>
                  <a:srgbClr val="2B2B2B"/>
                </a:solidFill>
                <a:latin typeface="Calibri"/>
              </a:rPr>
              <a:t>Audience:</a:t>
            </a:r>
            <a:r>
              <a:rPr sz="1550" b="0" i="0">
                <a:solidFill>
                  <a:srgbClr val="2B2B2B"/>
                </a:solidFill>
                <a:latin typeface="Calibri"/>
              </a:rPr>
              <a:t> ML-literate; has not read the BDH paper.</a:t>
            </a:r>
          </a:p>
          <a:p>
            <a:pPr>
              <a:spcBef>
                <a:spcPts val="0"/>
              </a:spcBef>
              <a:spcAft>
                <a:spcPts val="1300"/>
              </a:spcAft>
            </a:pPr>
            <a:r>
              <a:rPr sz="1550" b="1" i="0">
                <a:solidFill>
                  <a:srgbClr val="2B2B2B"/>
                </a:solidFill>
                <a:latin typeface="Calibri"/>
              </a:rPr>
              <a:t>Prerequisites:</a:t>
            </a:r>
            <a:r>
              <a:rPr sz="1550" b="0" i="0">
                <a:solidFill>
                  <a:srgbClr val="2B2B2B"/>
                </a:solidFill>
                <a:latin typeface="Calibri"/>
              </a:rPr>
              <a:t> what attention does; what a weight matrix is.</a:t>
            </a:r>
          </a:p>
          <a:p>
            <a:pPr>
              <a:spcBef>
                <a:spcPts val="0"/>
              </a:spcBef>
              <a:spcAft>
                <a:spcPts val="1300"/>
              </a:spcAft>
            </a:pPr>
            <a:r>
              <a:rPr sz="1550" b="1" i="0">
                <a:solidFill>
                  <a:srgbClr val="2B2B2B"/>
                </a:solidFill>
                <a:latin typeface="Calibri"/>
              </a:rPr>
              <a:t>Learning objectives:</a:t>
            </a:r>
            <a:r>
              <a:rPr sz="1550" b="0" i="0">
                <a:solidFill>
                  <a:srgbClr val="2B2B2B"/>
                </a:solidFill>
                <a:latin typeface="Calibri"/>
              </a:rPr>
              <a:t> explain why one uniform dimension permits surgery no Transformer allows; predict when a merge will fail.</a:t>
            </a:r>
          </a:p>
          <a:p>
            <a:pPr>
              <a:spcBef>
                <a:spcPts val="0"/>
              </a:spcBef>
              <a:spcAft>
                <a:spcPts val="1300"/>
              </a:spcAft>
            </a:pPr>
            <a:r>
              <a:rPr sz="1550" b="1" i="0">
                <a:solidFill>
                  <a:srgbClr val="2B2B2B"/>
                </a:solidFill>
                <a:latin typeface="Calibri"/>
              </a:rPr>
              <a:t>Reusable after the hackathon:</a:t>
            </a:r>
            <a:r>
              <a:rPr sz="1550" b="0" i="0">
                <a:solidFill>
                  <a:srgbClr val="2B2B2B"/>
                </a:solidFill>
                <a:latin typeface="Calibri"/>
              </a:rPr>
              <a:t> the merge sandbox and the overlap metric.</a:t>
            </a:r>
          </a:p>
        </p:txBody>
      </p:sp>
      <p:sp>
        <p:nvSpPr>
          <p:cNvPr id="6" name="TextBox 5"/>
          <p:cNvSpPr txBox="1"/>
          <p:nvPr/>
        </p:nvSpPr>
        <p:spPr>
          <a:xfrm>
            <a:off x="777240" y="6355080"/>
            <a:ext cx="10637215" cy="320040"/>
          </a:xfrm>
          <a:prstGeom prst="rect">
            <a:avLst/>
          </a:prstGeom>
          <a:noFill/>
        </p:spPr>
        <p:txBody>
          <a:bodyPr wrap="square" anchor="t" lIns="0" rIns="0" tIns="0" bIns="0">
            <a:spAutoFit/>
          </a:bodyPr>
          <a:lstStyle/>
          <a:p>
            <a:r>
              <a:rPr sz="1000" b="0" i="1">
                <a:solidFill>
                  <a:srgbClr val="707A8A"/>
                </a:solidFill>
                <a:latin typeface="Calibri"/>
              </a:rPr>
              <a:t>Learning effectiveness (15) + craft and provenance (10)</a:t>
            </a:r>
          </a:p>
        </p:txBody>
      </p:sp>
      <p:sp>
        <p:nvSpPr>
          <p:cNvPr id="7" name="TextBox 6"/>
          <p:cNvSpPr txBox="1"/>
          <p:nvPr/>
        </p:nvSpPr>
        <p:spPr>
          <a:xfrm>
            <a:off x="10865815" y="6355080"/>
            <a:ext cx="548640" cy="320040"/>
          </a:xfrm>
          <a:prstGeom prst="rect">
            <a:avLst/>
          </a:prstGeom>
          <a:noFill/>
        </p:spPr>
        <p:txBody>
          <a:bodyPr wrap="square" anchor="t" lIns="0" rIns="0" tIns="0" bIns="0">
            <a:spAutoFit/>
          </a:bodyPr>
          <a:lstStyle/>
          <a:p>
            <a:pPr algn="r"/>
            <a:r>
              <a:rPr sz="1000" b="0" i="0">
                <a:solidFill>
                  <a:srgbClr val="707A8A"/>
                </a:solidFill>
                <a:latin typeface="Calibri"/>
              </a:rPr>
              <a:t>12</a:t>
            </a:r>
          </a:p>
        </p:txBody>
      </p:sp>
      <p:sp>
        <p:nvSpPr>
          <p:cNvPr id="8" name="Rectangle 7"/>
          <p:cNvSpPr/>
          <p:nvPr/>
        </p:nvSpPr>
        <p:spPr>
          <a:xfrm>
            <a:off x="777240" y="5532120"/>
            <a:ext cx="10637215" cy="658368"/>
          </a:xfrm>
          <a:prstGeom prst="rect">
            <a:avLst/>
          </a:prstGeom>
          <a:solidFill>
            <a:srgbClr val="0F1E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i="0">
                <a:solidFill>
                  <a:srgbClr val="9EC1FF"/>
                </a:solidFill>
                <a:latin typeface="Calibri"/>
              </a:rPr>
              <a:t>Artifact: </a:t>
            </a:r>
            <a:r>
              <a:rPr sz="1300" b="0" i="0">
                <a:solidFill>
                  <a:srgbClr val="FFFFFF"/>
                </a:solidFill>
                <a:latin typeface="Calibri"/>
              </a:rPr>
              <a:t>&lt;url&gt;</a:t>
            </a:r>
            <a:r>
              <a:rPr sz="1300" b="1" i="0">
                <a:solidFill>
                  <a:srgbClr val="9EC1FF"/>
                </a:solidFill>
                <a:latin typeface="Calibri"/>
              </a:rPr>
              <a:t>      Repo: </a:t>
            </a:r>
            <a:r>
              <a:rPr sz="1300" b="0" i="0">
                <a:solidFill>
                  <a:srgbClr val="FFFFFF"/>
                </a:solidFill>
                <a:latin typeface="Calibri"/>
              </a:rPr>
              <a:t>github.com/Koustav-github/KDAG-Dataforge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